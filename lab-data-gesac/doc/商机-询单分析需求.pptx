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274" r:id="rId3"/>
    <p:sldId id="278" r:id="rId4"/>
    <p:sldId id="266" r:id="rId5"/>
    <p:sldId id="398" r:id="rId6"/>
    <p:sldId id="396" r:id="rId7"/>
    <p:sldId id="401" r:id="rId8"/>
    <p:sldId id="399" r:id="rId9"/>
    <p:sldId id="402" r:id="rId10"/>
    <p:sldId id="400" r:id="rId11"/>
    <p:sldId id="403" r:id="rId12"/>
    <p:sldId id="404" r:id="rId13"/>
    <p:sldId id="394" r:id="rId14"/>
    <p:sldId id="390" r:id="rId15"/>
    <p:sldId id="405" r:id="rId16"/>
    <p:sldId id="408" r:id="rId17"/>
    <p:sldId id="409" r:id="rId18"/>
    <p:sldId id="411" r:id="rId19"/>
    <p:sldId id="410" r:id="rId20"/>
    <p:sldId id="407" r:id="rId21"/>
    <p:sldId id="412" r:id="rId22"/>
    <p:sldId id="413" r:id="rId23"/>
    <p:sldId id="406" r:id="rId24"/>
    <p:sldId id="395" r:id="rId25"/>
    <p:sldId id="414" r:id="rId26"/>
    <p:sldId id="415" r:id="rId27"/>
    <p:sldId id="425" r:id="rId28"/>
    <p:sldId id="424" r:id="rId29"/>
    <p:sldId id="423" r:id="rId30"/>
    <p:sldId id="426" r:id="rId31"/>
    <p:sldId id="427" r:id="rId32"/>
    <p:sldId id="418" r:id="rId33"/>
    <p:sldId id="419" r:id="rId34"/>
    <p:sldId id="420" r:id="rId35"/>
    <p:sldId id="421" r:id="rId36"/>
    <p:sldId id="428" r:id="rId37"/>
    <p:sldId id="429" r:id="rId38"/>
    <p:sldId id="282" r:id="rId39"/>
  </p:sldIdLst>
  <p:sldSz cx="11520170" cy="6480175"/>
  <p:notesSz cx="6858000" cy="9144000"/>
  <p:custDataLst>
    <p:tags r:id="rId4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AFF"/>
    <a:srgbClr val="009DF0"/>
    <a:srgbClr val="00DEFF"/>
    <a:srgbClr val="002B69"/>
    <a:srgbClr val="00B0F0"/>
    <a:srgbClr val="49863E"/>
    <a:srgbClr val="DFE4E8"/>
    <a:srgbClr val="E0CA76"/>
    <a:srgbClr val="FFFFFF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43"/>
    <p:restoredTop sz="96405"/>
  </p:normalViewPr>
  <p:slideViewPr>
    <p:cSldViewPr snapToGrid="0" snapToObjects="1">
      <p:cViewPr varScale="1">
        <p:scale>
          <a:sx n="108" d="100"/>
          <a:sy n="108" d="100"/>
        </p:scale>
        <p:origin x="7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21" d="100"/>
          <a:sy n="121" d="100"/>
        </p:scale>
        <p:origin x="3792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tags" Target="tags/tag1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handoutMaster" Target="handoutMasters/handoutMaster1.xml"/><Relationship Id="rId4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5D717-3DFC-844C-BDD5-11C852C2F67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8D9A7-6C8E-CF48-B829-48FD492749B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9A6184-11F5-4CD3-9960-FB5800704A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DFB25-7A61-4E86-9E41-46A7CEAC31E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image" Target="../media/image11.jpeg"/><Relationship Id="rId4" Type="http://schemas.openxmlformats.org/officeDocument/2006/relationships/image" Target="../media/image3.png"/><Relationship Id="rId3" Type="http://schemas.microsoft.com/office/2007/relationships/hdphoto" Target="../media/image10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5000"/>
                    </a14:imgEffect>
                  </a14:imgLayer>
                </a14:imgProps>
              </a:ext>
            </a:extLst>
          </a:blip>
          <a:srcRect t="12546" b="28136"/>
          <a:stretch>
            <a:fillRect/>
          </a:stretch>
        </p:blipFill>
        <p:spPr>
          <a:xfrm flipH="1">
            <a:off x="0" y="-1"/>
            <a:ext cx="11519694" cy="513198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0"/>
            <a:ext cx="11520488" cy="4853065"/>
          </a:xfrm>
          <a:prstGeom prst="rect">
            <a:avLst/>
          </a:prstGeom>
          <a:solidFill>
            <a:srgbClr val="1075FD">
              <a:alpha val="5832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" name="矩形 13"/>
          <p:cNvSpPr/>
          <p:nvPr userDrawn="1"/>
        </p:nvSpPr>
        <p:spPr>
          <a:xfrm flipV="1">
            <a:off x="794" y="4953964"/>
            <a:ext cx="11519694" cy="1526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736282" y="745286"/>
            <a:ext cx="9250275" cy="929984"/>
          </a:xfrm>
        </p:spPr>
        <p:txBody>
          <a:bodyPr anchor="b">
            <a:normAutofit/>
          </a:bodyPr>
          <a:lstStyle>
            <a:lvl1pPr algn="l">
              <a:defRPr sz="4600" b="0" i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r>
              <a:rPr kumimoji="1" lang="zh-CN" altLang="en-US" dirty="0"/>
              <a:t>标题思源黑体 </a:t>
            </a:r>
            <a:r>
              <a:rPr kumimoji="1" lang="en-US" altLang="zh-CN" dirty="0"/>
              <a:t>Medium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46</a:t>
            </a:r>
            <a:endParaRPr kumimoji="1" lang="zh-CN" altLang="en-US" dirty="0"/>
          </a:p>
        </p:txBody>
      </p:sp>
      <p:sp>
        <p:nvSpPr>
          <p:cNvPr id="11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736282" y="1675270"/>
            <a:ext cx="8640366" cy="441012"/>
          </a:xfrm>
        </p:spPr>
        <p:txBody>
          <a:bodyPr/>
          <a:lstStyle>
            <a:lvl1pPr marL="0" indent="0" algn="l">
              <a:buNone/>
              <a:defRPr b="0" i="0">
                <a:solidFill>
                  <a:schemeClr val="bg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</a:lstStyle>
          <a:p>
            <a:r>
              <a:rPr kumimoji="1" lang="zh-CN" altLang="en-US" dirty="0"/>
              <a:t>副标题思源黑体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26.5</a:t>
            </a:r>
            <a:endParaRPr kumimoji="1" lang="zh-CN" altLang="en-US" dirty="0"/>
          </a:p>
        </p:txBody>
      </p:sp>
      <p:sp>
        <p:nvSpPr>
          <p:cNvPr id="18" name="文本占位符 18"/>
          <p:cNvSpPr>
            <a:spLocks noGrp="1"/>
          </p:cNvSpPr>
          <p:nvPr>
            <p:ph type="body" sz="quarter" idx="17" hasCustomPrompt="1"/>
          </p:nvPr>
        </p:nvSpPr>
        <p:spPr>
          <a:xfrm>
            <a:off x="9085965" y="5781314"/>
            <a:ext cx="1988924" cy="327025"/>
          </a:xfrm>
        </p:spPr>
        <p:txBody>
          <a:bodyPr/>
          <a:lstStyle>
            <a:lvl1pPr algn="r">
              <a:buNone/>
              <a:defRPr sz="1100" b="0" i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</a:lstStyle>
          <a:p>
            <a:pPr lvl="0"/>
            <a:r>
              <a:rPr kumimoji="1" lang="zh-CN" altLang="en-GB" dirty="0"/>
              <a:t>网址</a:t>
            </a:r>
            <a:r>
              <a:rPr kumimoji="1" lang="zh-CN" altLang="en-US" dirty="0"/>
              <a:t>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11</a:t>
            </a:r>
            <a:endParaRPr kumimoji="1" lang="zh-CN" altLang="en-US" dirty="0"/>
          </a:p>
        </p:txBody>
      </p:sp>
      <p:sp>
        <p:nvSpPr>
          <p:cNvPr id="20" name="文本占位符 8"/>
          <p:cNvSpPr>
            <a:spLocks noGrp="1"/>
          </p:cNvSpPr>
          <p:nvPr>
            <p:ph type="body" sz="quarter" idx="16" hasCustomPrompt="1"/>
          </p:nvPr>
        </p:nvSpPr>
        <p:spPr>
          <a:xfrm>
            <a:off x="736282" y="3797386"/>
            <a:ext cx="4467567" cy="353214"/>
          </a:xfrm>
        </p:spPr>
        <p:txBody>
          <a:bodyPr/>
          <a:lstStyle>
            <a:lvl1pPr>
              <a:buNone/>
              <a:defRPr sz="1500" b="0" i="0">
                <a:solidFill>
                  <a:schemeClr val="bg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</a:lstStyle>
          <a:p>
            <a:pPr lvl="0"/>
            <a:r>
              <a:rPr kumimoji="1" lang="zh-CN" altLang="en-US" dirty="0"/>
              <a:t>汇报人</a:t>
            </a:r>
            <a:r>
              <a:rPr kumimoji="1" lang="en-US" altLang="zh-CN" dirty="0"/>
              <a:t> </a:t>
            </a:r>
            <a:r>
              <a:rPr kumimoji="1" lang="zh-CN" altLang="en-US" dirty="0"/>
              <a:t>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15</a:t>
            </a:r>
            <a:endParaRPr kumimoji="1" lang="en-US" altLang="zh-CN" dirty="0"/>
          </a:p>
        </p:txBody>
      </p:sp>
      <p:sp>
        <p:nvSpPr>
          <p:cNvPr id="21" name="文本占位符 8"/>
          <p:cNvSpPr>
            <a:spLocks noGrp="1"/>
          </p:cNvSpPr>
          <p:nvPr>
            <p:ph type="body" sz="quarter" idx="18" hasCustomPrompt="1"/>
          </p:nvPr>
        </p:nvSpPr>
        <p:spPr>
          <a:xfrm>
            <a:off x="736282" y="4133051"/>
            <a:ext cx="4467567" cy="353214"/>
          </a:xfrm>
        </p:spPr>
        <p:txBody>
          <a:bodyPr/>
          <a:lstStyle>
            <a:lvl1pPr>
              <a:buNone/>
              <a:defRPr sz="1500" b="0" i="0">
                <a:solidFill>
                  <a:schemeClr val="bg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</a:lstStyle>
          <a:p>
            <a:pPr lvl="0"/>
            <a:r>
              <a:rPr kumimoji="1" lang="zh-CN" altLang="en-US" dirty="0"/>
              <a:t>汇报日期</a:t>
            </a:r>
            <a:r>
              <a:rPr kumimoji="1" lang="en-US" altLang="zh-CN" dirty="0"/>
              <a:t> </a:t>
            </a:r>
            <a:r>
              <a:rPr kumimoji="1" lang="zh-CN" altLang="en-US" dirty="0"/>
              <a:t>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15</a:t>
            </a:r>
            <a:endParaRPr kumimoji="1"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4" y="4853065"/>
            <a:ext cx="11518900" cy="4445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36282" y="5663358"/>
            <a:ext cx="2224775" cy="441013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alphaModFix amt="85000"/>
          </a:blip>
          <a:srcRect t="1963" b="23722"/>
          <a:stretch>
            <a:fillRect/>
          </a:stretch>
        </p:blipFill>
        <p:spPr>
          <a:xfrm>
            <a:off x="0" y="1657818"/>
            <a:ext cx="11520488" cy="4822357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1588" y="1657818"/>
            <a:ext cx="11518900" cy="4822357"/>
          </a:xfrm>
          <a:prstGeom prst="rect">
            <a:avLst/>
          </a:prstGeom>
          <a:solidFill>
            <a:srgbClr val="0B67E4">
              <a:alpha val="6206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        </a:t>
            </a:r>
            <a:endParaRPr kumimoji="1" lang="zh-CN" altLang="en-US" dirty="0"/>
          </a:p>
        </p:txBody>
      </p:sp>
      <p:sp>
        <p:nvSpPr>
          <p:cNvPr id="21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2367602" y="3073203"/>
            <a:ext cx="5598152" cy="612180"/>
          </a:xfrm>
        </p:spPr>
        <p:txBody>
          <a:bodyPr>
            <a:normAutofit/>
          </a:bodyPr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pPr lvl="0"/>
            <a:r>
              <a:rPr kumimoji="1" lang="zh-CN" altLang="en-US" dirty="0"/>
              <a:t>主标题思源</a:t>
            </a:r>
            <a:r>
              <a:rPr kumimoji="1" lang="en-US" altLang="zh-CN" dirty="0"/>
              <a:t>Medium</a:t>
            </a:r>
            <a:r>
              <a:rPr kumimoji="1" lang="zh-CN" altLang="en-US" dirty="0"/>
              <a:t> </a:t>
            </a:r>
            <a:r>
              <a:rPr kumimoji="1" lang="en-US" altLang="zh-CN" dirty="0"/>
              <a:t>40</a:t>
            </a:r>
            <a:endParaRPr kumimoji="1" lang="zh-CN" altLang="en-US" dirty="0"/>
          </a:p>
        </p:txBody>
      </p:sp>
      <p:sp>
        <p:nvSpPr>
          <p:cNvPr id="22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2367602" y="3686176"/>
            <a:ext cx="4556816" cy="481503"/>
          </a:xfrm>
        </p:spPr>
        <p:txBody>
          <a:bodyPr>
            <a:normAutofit/>
          </a:bodyPr>
          <a:lstStyle>
            <a:lvl1pPr marL="0" marR="0" indent="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sz="2400" b="0" i="0">
                <a:solidFill>
                  <a:schemeClr val="bg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</a:lstStyle>
          <a:p>
            <a:pPr marL="0" marR="0" lvl="0" indent="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副标题思源黑体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</a:t>
            </a:r>
            <a:r>
              <a:rPr kumimoji="1" lang="en-US" altLang="zh-CN" dirty="0"/>
              <a:t>24</a:t>
            </a:r>
            <a:endParaRPr kumimoji="1" lang="zh-CN" altLang="en-US" dirty="0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4" hasCustomPrompt="1"/>
          </p:nvPr>
        </p:nvSpPr>
        <p:spPr>
          <a:xfrm>
            <a:off x="736282" y="3041304"/>
            <a:ext cx="1345790" cy="1226388"/>
          </a:xfrm>
        </p:spPr>
        <p:txBody>
          <a:bodyPr/>
          <a:lstStyle>
            <a:lvl1pPr marL="0" indent="0" algn="ctr">
              <a:buNone/>
              <a:defRPr sz="7200" b="0" i="0">
                <a:solidFill>
                  <a:srgbClr val="E0C875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cxnSp>
        <p:nvCxnSpPr>
          <p:cNvPr id="32" name="直线连接符 31"/>
          <p:cNvCxnSpPr/>
          <p:nvPr userDrawn="1"/>
        </p:nvCxnSpPr>
        <p:spPr>
          <a:xfrm>
            <a:off x="2224836" y="3189658"/>
            <a:ext cx="0" cy="873024"/>
          </a:xfrm>
          <a:prstGeom prst="line">
            <a:avLst/>
          </a:prstGeom>
          <a:ln w="25400">
            <a:solidFill>
              <a:srgbClr val="E0C8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6282" y="432205"/>
            <a:ext cx="2224775" cy="441013"/>
          </a:xfrm>
          <a:prstGeom prst="rect">
            <a:avLst/>
          </a:prstGeom>
        </p:spPr>
      </p:pic>
      <p:sp>
        <p:nvSpPr>
          <p:cNvPr id="3" name="菱形 2"/>
          <p:cNvSpPr/>
          <p:nvPr userDrawn="1"/>
        </p:nvSpPr>
        <p:spPr>
          <a:xfrm>
            <a:off x="8565702" y="1534884"/>
            <a:ext cx="167038" cy="167038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4" y="1213318"/>
            <a:ext cx="11518900" cy="444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4604" y="404222"/>
            <a:ext cx="5292658" cy="374410"/>
          </a:xfrm>
        </p:spPr>
        <p:txBody>
          <a:bodyPr>
            <a:noAutofit/>
          </a:bodyPr>
          <a:lstStyle>
            <a:lvl1pPr>
              <a:defRPr sz="2800" b="0" i="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r>
              <a:rPr kumimoji="1" lang="zh-CN" altLang="en-US" dirty="0"/>
              <a:t>主标题思源黑体</a:t>
            </a:r>
            <a:r>
              <a:rPr kumimoji="1" lang="en-US" altLang="zh-CN" dirty="0"/>
              <a:t>Medium</a:t>
            </a:r>
            <a:r>
              <a:rPr kumimoji="1" lang="zh-CN" altLang="en-US" dirty="0"/>
              <a:t> </a:t>
            </a:r>
            <a:r>
              <a:rPr kumimoji="1" lang="en-US" altLang="zh-CN" dirty="0"/>
              <a:t>28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6" hasCustomPrompt="1"/>
          </p:nvPr>
        </p:nvSpPr>
        <p:spPr>
          <a:xfrm>
            <a:off x="714603" y="1201057"/>
            <a:ext cx="4385893" cy="319088"/>
          </a:xfrm>
        </p:spPr>
        <p:txBody>
          <a:bodyPr/>
          <a:lstStyle>
            <a:lvl1pPr>
              <a:buNone/>
              <a:defRPr sz="2400" b="0" i="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pPr lvl="0"/>
            <a:r>
              <a:rPr kumimoji="1" lang="zh-CN" altLang="en-US"/>
              <a:t>小标题 思源黑体</a:t>
            </a:r>
            <a:r>
              <a:rPr kumimoji="1" lang="en-US" altLang="zh-CN"/>
              <a:t>Medium</a:t>
            </a:r>
            <a:r>
              <a:rPr kumimoji="1" lang="zh-CN" altLang="en-US"/>
              <a:t> </a:t>
            </a:r>
            <a:r>
              <a:rPr kumimoji="1" lang="en-US" altLang="zh-CN"/>
              <a:t>24</a:t>
            </a:r>
            <a:endParaRPr kumimoji="1"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7" hasCustomPrompt="1"/>
          </p:nvPr>
        </p:nvSpPr>
        <p:spPr>
          <a:xfrm>
            <a:off x="714603" y="1826524"/>
            <a:ext cx="4622940" cy="1089025"/>
          </a:xfrm>
        </p:spPr>
        <p:txBody>
          <a:bodyPr/>
          <a:lstStyle>
            <a:lvl1pPr>
              <a:buNone/>
              <a:defRPr sz="1400" b="0" i="0"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</a:lstStyle>
          <a:p>
            <a:pPr lvl="0"/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en-US" altLang="zh-CN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8"/>
          </p:nvPr>
        </p:nvSpPr>
        <p:spPr>
          <a:xfrm>
            <a:off x="714604" y="3774558"/>
            <a:ext cx="4622940" cy="224365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17" name="文本占位符 3"/>
          <p:cNvSpPr>
            <a:spLocks noGrp="1"/>
          </p:cNvSpPr>
          <p:nvPr>
            <p:ph type="body" sz="quarter" idx="19" hasCustomPrompt="1"/>
          </p:nvPr>
        </p:nvSpPr>
        <p:spPr>
          <a:xfrm>
            <a:off x="6286063" y="1201057"/>
            <a:ext cx="4385893" cy="319088"/>
          </a:xfrm>
        </p:spPr>
        <p:txBody>
          <a:bodyPr/>
          <a:lstStyle>
            <a:lvl1pPr>
              <a:buNone/>
              <a:defRPr sz="2400" b="0" i="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pPr lvl="0"/>
            <a:r>
              <a:rPr kumimoji="1" lang="zh-CN" altLang="en-US"/>
              <a:t>小标题 思源黑体</a:t>
            </a:r>
            <a:r>
              <a:rPr kumimoji="1" lang="en-US" altLang="zh-CN"/>
              <a:t>Medium</a:t>
            </a:r>
            <a:r>
              <a:rPr kumimoji="1" lang="zh-CN" altLang="en-US"/>
              <a:t> </a:t>
            </a:r>
            <a:r>
              <a:rPr kumimoji="1" lang="en-US" altLang="zh-CN"/>
              <a:t>24</a:t>
            </a:r>
            <a:endParaRPr kumimoji="1" lang="zh-CN" altLang="en-US"/>
          </a:p>
        </p:txBody>
      </p:sp>
      <p:sp>
        <p:nvSpPr>
          <p:cNvPr id="18" name="内容占位符 6"/>
          <p:cNvSpPr>
            <a:spLocks noGrp="1"/>
          </p:cNvSpPr>
          <p:nvPr>
            <p:ph sz="quarter" idx="20" hasCustomPrompt="1"/>
          </p:nvPr>
        </p:nvSpPr>
        <p:spPr>
          <a:xfrm>
            <a:off x="6286063" y="1826524"/>
            <a:ext cx="4622940" cy="1089025"/>
          </a:xfrm>
        </p:spPr>
        <p:txBody>
          <a:bodyPr/>
          <a:lstStyle>
            <a:lvl1pPr>
              <a:buNone/>
              <a:defRPr sz="1400" b="0" i="0"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</a:lstStyle>
          <a:p>
            <a:pPr lvl="0"/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en-US" altLang="zh-CN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  <p:sp>
        <p:nvSpPr>
          <p:cNvPr id="19" name="图片占位符 10"/>
          <p:cNvSpPr>
            <a:spLocks noGrp="1"/>
          </p:cNvSpPr>
          <p:nvPr>
            <p:ph type="pic" sz="quarter" idx="21"/>
          </p:nvPr>
        </p:nvSpPr>
        <p:spPr>
          <a:xfrm>
            <a:off x="6286064" y="3774558"/>
            <a:ext cx="4622940" cy="2243655"/>
          </a:xfrm>
        </p:spPr>
        <p:txBody>
          <a:bodyPr/>
          <a:lstStyle/>
          <a:p>
            <a:endParaRPr kumimoji="1"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6" hasCustomPrompt="1"/>
          </p:nvPr>
        </p:nvSpPr>
        <p:spPr>
          <a:xfrm>
            <a:off x="714603" y="1201057"/>
            <a:ext cx="4385893" cy="319088"/>
          </a:xfrm>
        </p:spPr>
        <p:txBody>
          <a:bodyPr/>
          <a:lstStyle>
            <a:lvl1pPr>
              <a:buNone/>
              <a:defRPr sz="2400" b="0" i="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pPr lvl="0"/>
            <a:r>
              <a:rPr kumimoji="1" lang="zh-CN" altLang="en-US"/>
              <a:t>小标题 思源</a:t>
            </a:r>
            <a:r>
              <a:rPr kumimoji="1" lang="en-US" altLang="zh-CN"/>
              <a:t>Medium</a:t>
            </a:r>
            <a:r>
              <a:rPr kumimoji="1" lang="zh-CN" altLang="en-US"/>
              <a:t> </a:t>
            </a:r>
            <a:r>
              <a:rPr kumimoji="1" lang="en-US" altLang="zh-CN"/>
              <a:t>24</a:t>
            </a:r>
            <a:endParaRPr kumimoji="1"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7" hasCustomPrompt="1"/>
          </p:nvPr>
        </p:nvSpPr>
        <p:spPr>
          <a:xfrm>
            <a:off x="714603" y="1826524"/>
            <a:ext cx="3070587" cy="1089025"/>
          </a:xfrm>
        </p:spPr>
        <p:txBody>
          <a:bodyPr/>
          <a:lstStyle>
            <a:lvl1pPr>
              <a:buNone/>
              <a:defRPr sz="1400" b="0" i="0"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</a:lstStyle>
          <a:p>
            <a:pPr lvl="0"/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en-US" altLang="zh-CN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8"/>
          </p:nvPr>
        </p:nvSpPr>
        <p:spPr>
          <a:xfrm>
            <a:off x="714604" y="3774558"/>
            <a:ext cx="3070587" cy="224365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15" name="文本占位符 3"/>
          <p:cNvSpPr>
            <a:spLocks noGrp="1"/>
          </p:cNvSpPr>
          <p:nvPr>
            <p:ph type="body" sz="quarter" idx="19" hasCustomPrompt="1"/>
          </p:nvPr>
        </p:nvSpPr>
        <p:spPr>
          <a:xfrm>
            <a:off x="4255735" y="1201057"/>
            <a:ext cx="4385893" cy="319088"/>
          </a:xfrm>
        </p:spPr>
        <p:txBody>
          <a:bodyPr/>
          <a:lstStyle>
            <a:lvl1pPr>
              <a:buNone/>
              <a:defRPr sz="2400" b="0" i="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pPr lvl="0"/>
            <a:r>
              <a:rPr kumimoji="1" lang="zh-CN" altLang="en-US"/>
              <a:t>小标题 思源</a:t>
            </a:r>
            <a:r>
              <a:rPr kumimoji="1" lang="en-US" altLang="zh-CN"/>
              <a:t>Medium</a:t>
            </a:r>
            <a:r>
              <a:rPr kumimoji="1" lang="zh-CN" altLang="en-US"/>
              <a:t> </a:t>
            </a:r>
            <a:r>
              <a:rPr kumimoji="1" lang="en-US" altLang="zh-CN"/>
              <a:t>24</a:t>
            </a:r>
            <a:endParaRPr kumimoji="1" lang="zh-CN" altLang="en-US"/>
          </a:p>
        </p:txBody>
      </p:sp>
      <p:sp>
        <p:nvSpPr>
          <p:cNvPr id="16" name="内容占位符 6"/>
          <p:cNvSpPr>
            <a:spLocks noGrp="1"/>
          </p:cNvSpPr>
          <p:nvPr>
            <p:ph sz="quarter" idx="20" hasCustomPrompt="1"/>
          </p:nvPr>
        </p:nvSpPr>
        <p:spPr>
          <a:xfrm>
            <a:off x="4255735" y="1826524"/>
            <a:ext cx="3070587" cy="1089025"/>
          </a:xfrm>
        </p:spPr>
        <p:txBody>
          <a:bodyPr/>
          <a:lstStyle>
            <a:lvl1pPr>
              <a:buNone/>
              <a:defRPr sz="1400" b="0" i="0"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</a:lstStyle>
          <a:p>
            <a:pPr lvl="0"/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en-US" altLang="zh-CN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</p:txBody>
      </p:sp>
      <p:sp>
        <p:nvSpPr>
          <p:cNvPr id="20" name="图片占位符 10"/>
          <p:cNvSpPr>
            <a:spLocks noGrp="1"/>
          </p:cNvSpPr>
          <p:nvPr>
            <p:ph type="pic" sz="quarter" idx="21"/>
          </p:nvPr>
        </p:nvSpPr>
        <p:spPr>
          <a:xfrm>
            <a:off x="4255736" y="3774558"/>
            <a:ext cx="3070587" cy="224365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21" name="文本占位符 3"/>
          <p:cNvSpPr>
            <a:spLocks noGrp="1"/>
          </p:cNvSpPr>
          <p:nvPr>
            <p:ph type="body" sz="quarter" idx="22" hasCustomPrompt="1"/>
          </p:nvPr>
        </p:nvSpPr>
        <p:spPr>
          <a:xfrm>
            <a:off x="7795887" y="1201057"/>
            <a:ext cx="3419801" cy="319088"/>
          </a:xfrm>
        </p:spPr>
        <p:txBody>
          <a:bodyPr/>
          <a:lstStyle>
            <a:lvl1pPr>
              <a:buNone/>
              <a:defRPr sz="2400" b="0" i="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pPr lvl="0"/>
            <a:r>
              <a:rPr kumimoji="1" lang="zh-CN" altLang="en-US"/>
              <a:t>小标题 思源</a:t>
            </a:r>
            <a:r>
              <a:rPr kumimoji="1" lang="en-US" altLang="zh-CN"/>
              <a:t>Medium</a:t>
            </a:r>
            <a:r>
              <a:rPr kumimoji="1" lang="zh-CN" altLang="en-US"/>
              <a:t> </a:t>
            </a:r>
            <a:r>
              <a:rPr kumimoji="1" lang="en-US" altLang="zh-CN"/>
              <a:t>24</a:t>
            </a:r>
            <a:endParaRPr kumimoji="1" lang="zh-CN" altLang="en-US"/>
          </a:p>
        </p:txBody>
      </p:sp>
      <p:sp>
        <p:nvSpPr>
          <p:cNvPr id="22" name="内容占位符 6"/>
          <p:cNvSpPr>
            <a:spLocks noGrp="1"/>
          </p:cNvSpPr>
          <p:nvPr>
            <p:ph sz="quarter" idx="23" hasCustomPrompt="1"/>
          </p:nvPr>
        </p:nvSpPr>
        <p:spPr>
          <a:xfrm>
            <a:off x="7795887" y="1826524"/>
            <a:ext cx="3070587" cy="1089025"/>
          </a:xfrm>
        </p:spPr>
        <p:txBody>
          <a:bodyPr/>
          <a:lstStyle>
            <a:lvl1pPr>
              <a:buNone/>
              <a:defRPr sz="1400" b="0" i="0"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</a:lstStyle>
          <a:p>
            <a:pPr lvl="0"/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en-US" altLang="zh-CN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</p:txBody>
      </p:sp>
      <p:sp>
        <p:nvSpPr>
          <p:cNvPr id="23" name="图片占位符 10"/>
          <p:cNvSpPr>
            <a:spLocks noGrp="1"/>
          </p:cNvSpPr>
          <p:nvPr>
            <p:ph type="pic" sz="quarter" idx="24"/>
          </p:nvPr>
        </p:nvSpPr>
        <p:spPr>
          <a:xfrm>
            <a:off x="7795888" y="3774558"/>
            <a:ext cx="3070587" cy="2243655"/>
          </a:xfrm>
        </p:spPr>
        <p:txBody>
          <a:bodyPr/>
          <a:lstStyle/>
          <a:p>
            <a:endParaRPr kumimoji="1"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sp>
        <p:nvSpPr>
          <p:cNvPr id="18" name="标题 1"/>
          <p:cNvSpPr>
            <a:spLocks noGrp="1"/>
          </p:cNvSpPr>
          <p:nvPr>
            <p:ph type="title" hasCustomPrompt="1"/>
          </p:nvPr>
        </p:nvSpPr>
        <p:spPr>
          <a:xfrm>
            <a:off x="714604" y="404222"/>
            <a:ext cx="5292658" cy="374410"/>
          </a:xfrm>
        </p:spPr>
        <p:txBody>
          <a:bodyPr>
            <a:noAutofit/>
          </a:bodyPr>
          <a:lstStyle>
            <a:lvl1pPr>
              <a:defRPr sz="2800" b="0" i="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r>
              <a:rPr kumimoji="1" lang="zh-CN" altLang="en-US" dirty="0"/>
              <a:t>主标题思源黑体</a:t>
            </a:r>
            <a:r>
              <a:rPr kumimoji="1" lang="en-US" altLang="zh-CN" dirty="0"/>
              <a:t>Medium</a:t>
            </a:r>
            <a:r>
              <a:rPr kumimoji="1" lang="zh-CN" altLang="en-US" dirty="0"/>
              <a:t> </a:t>
            </a:r>
            <a:r>
              <a:rPr kumimoji="1" lang="en-US" altLang="zh-CN" dirty="0"/>
              <a:t>28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6" hasCustomPrompt="1"/>
          </p:nvPr>
        </p:nvSpPr>
        <p:spPr>
          <a:xfrm>
            <a:off x="714603" y="1201057"/>
            <a:ext cx="4385893" cy="319088"/>
          </a:xfrm>
        </p:spPr>
        <p:txBody>
          <a:bodyPr/>
          <a:lstStyle>
            <a:lvl1pPr>
              <a:buNone/>
              <a:defRPr sz="2400" b="0" i="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pPr lvl="0"/>
            <a:r>
              <a:rPr kumimoji="1" lang="zh-CN" altLang="en-US"/>
              <a:t>小标题 思源黑体</a:t>
            </a:r>
            <a:r>
              <a:rPr kumimoji="1" lang="en-US" altLang="zh-CN"/>
              <a:t>Medium</a:t>
            </a:r>
            <a:r>
              <a:rPr kumimoji="1" lang="zh-CN" altLang="en-US"/>
              <a:t> </a:t>
            </a:r>
            <a:r>
              <a:rPr kumimoji="1" lang="en-US" altLang="zh-CN"/>
              <a:t>24</a:t>
            </a:r>
            <a:endParaRPr kumimoji="1"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7" hasCustomPrompt="1"/>
          </p:nvPr>
        </p:nvSpPr>
        <p:spPr>
          <a:xfrm>
            <a:off x="714603" y="1826524"/>
            <a:ext cx="4622940" cy="1089025"/>
          </a:xfrm>
        </p:spPr>
        <p:txBody>
          <a:bodyPr/>
          <a:lstStyle>
            <a:lvl1pPr>
              <a:buNone/>
              <a:defRPr sz="1400" b="0" i="0"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</a:lstStyle>
          <a:p>
            <a:pPr lvl="0"/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en-US" altLang="zh-CN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8"/>
          </p:nvPr>
        </p:nvSpPr>
        <p:spPr>
          <a:xfrm>
            <a:off x="714604" y="3774558"/>
            <a:ext cx="4622940" cy="224365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17" name="文本占位符 3"/>
          <p:cNvSpPr>
            <a:spLocks noGrp="1"/>
          </p:cNvSpPr>
          <p:nvPr>
            <p:ph type="body" sz="quarter" idx="19" hasCustomPrompt="1"/>
          </p:nvPr>
        </p:nvSpPr>
        <p:spPr>
          <a:xfrm>
            <a:off x="6286063" y="1201057"/>
            <a:ext cx="4385893" cy="319088"/>
          </a:xfrm>
        </p:spPr>
        <p:txBody>
          <a:bodyPr/>
          <a:lstStyle>
            <a:lvl1pPr>
              <a:buNone/>
              <a:defRPr sz="2400" b="0" i="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pPr lvl="0"/>
            <a:r>
              <a:rPr kumimoji="1" lang="zh-CN" altLang="en-US"/>
              <a:t>小标题 思源黑体</a:t>
            </a:r>
            <a:r>
              <a:rPr kumimoji="1" lang="en-US" altLang="zh-CN"/>
              <a:t>Medium</a:t>
            </a:r>
            <a:r>
              <a:rPr kumimoji="1" lang="zh-CN" altLang="en-US"/>
              <a:t> </a:t>
            </a:r>
            <a:r>
              <a:rPr kumimoji="1" lang="en-US" altLang="zh-CN"/>
              <a:t>24</a:t>
            </a:r>
            <a:endParaRPr kumimoji="1" lang="zh-CN" altLang="en-US"/>
          </a:p>
        </p:txBody>
      </p:sp>
      <p:sp>
        <p:nvSpPr>
          <p:cNvPr id="18" name="内容占位符 6"/>
          <p:cNvSpPr>
            <a:spLocks noGrp="1"/>
          </p:cNvSpPr>
          <p:nvPr>
            <p:ph sz="quarter" idx="20" hasCustomPrompt="1"/>
          </p:nvPr>
        </p:nvSpPr>
        <p:spPr>
          <a:xfrm>
            <a:off x="6286063" y="1826524"/>
            <a:ext cx="4622940" cy="1089025"/>
          </a:xfrm>
        </p:spPr>
        <p:txBody>
          <a:bodyPr/>
          <a:lstStyle>
            <a:lvl1pPr>
              <a:buNone/>
              <a:defRPr sz="1400" b="0" i="0"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</a:lstStyle>
          <a:p>
            <a:pPr lvl="0"/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en-US" altLang="zh-CN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  <p:sp>
        <p:nvSpPr>
          <p:cNvPr id="19" name="图片占位符 10"/>
          <p:cNvSpPr>
            <a:spLocks noGrp="1"/>
          </p:cNvSpPr>
          <p:nvPr>
            <p:ph type="pic" sz="quarter" idx="21"/>
          </p:nvPr>
        </p:nvSpPr>
        <p:spPr>
          <a:xfrm>
            <a:off x="6286064" y="3774558"/>
            <a:ext cx="4622940" cy="2243655"/>
          </a:xfrm>
        </p:spPr>
        <p:txBody>
          <a:bodyPr/>
          <a:lstStyle/>
          <a:p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88369" y="413994"/>
            <a:ext cx="724252" cy="29871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4" y="6213475"/>
            <a:ext cx="11518900" cy="266700"/>
          </a:xfrm>
          <a:prstGeom prst="rect">
            <a:avLst/>
          </a:prstGeom>
        </p:spPr>
      </p:pic>
      <p:sp>
        <p:nvSpPr>
          <p:cNvPr id="15" name="标题 1"/>
          <p:cNvSpPr>
            <a:spLocks noGrp="1"/>
          </p:cNvSpPr>
          <p:nvPr>
            <p:ph type="title" hasCustomPrompt="1"/>
          </p:nvPr>
        </p:nvSpPr>
        <p:spPr>
          <a:xfrm>
            <a:off x="714604" y="404222"/>
            <a:ext cx="5292658" cy="374410"/>
          </a:xfrm>
        </p:spPr>
        <p:txBody>
          <a:bodyPr>
            <a:noAutofit/>
          </a:bodyPr>
          <a:lstStyle>
            <a:lvl1pPr>
              <a:defRPr sz="2800" b="0" i="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r>
              <a:rPr kumimoji="1" lang="zh-CN" altLang="en-US" dirty="0"/>
              <a:t>主标题思源黑体</a:t>
            </a:r>
            <a:r>
              <a:rPr kumimoji="1" lang="en-US" altLang="zh-CN" dirty="0"/>
              <a:t>Medium</a:t>
            </a:r>
            <a:r>
              <a:rPr kumimoji="1" lang="zh-CN" altLang="en-US" dirty="0"/>
              <a:t> </a:t>
            </a:r>
            <a:r>
              <a:rPr kumimoji="1" lang="en-US" altLang="zh-CN" dirty="0"/>
              <a:t>28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7" hasCustomPrompt="1"/>
          </p:nvPr>
        </p:nvSpPr>
        <p:spPr>
          <a:xfrm>
            <a:off x="714603" y="1826524"/>
            <a:ext cx="3070587" cy="1089025"/>
          </a:xfrm>
        </p:spPr>
        <p:txBody>
          <a:bodyPr/>
          <a:lstStyle>
            <a:lvl1pPr>
              <a:buNone/>
              <a:defRPr sz="1400" b="0" i="0"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</a:lstStyle>
          <a:p>
            <a:pPr lvl="0"/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en-US" altLang="zh-CN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8"/>
          </p:nvPr>
        </p:nvSpPr>
        <p:spPr>
          <a:xfrm>
            <a:off x="714604" y="3774558"/>
            <a:ext cx="3070587" cy="224365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16" name="内容占位符 6"/>
          <p:cNvSpPr>
            <a:spLocks noGrp="1"/>
          </p:cNvSpPr>
          <p:nvPr>
            <p:ph sz="quarter" idx="20" hasCustomPrompt="1"/>
          </p:nvPr>
        </p:nvSpPr>
        <p:spPr>
          <a:xfrm>
            <a:off x="4255735" y="1826524"/>
            <a:ext cx="3070587" cy="1089025"/>
          </a:xfrm>
        </p:spPr>
        <p:txBody>
          <a:bodyPr/>
          <a:lstStyle>
            <a:lvl1pPr>
              <a:buNone/>
              <a:defRPr sz="1400" b="0" i="0"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</a:lstStyle>
          <a:p>
            <a:pPr lvl="0"/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en-US" altLang="zh-CN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</p:txBody>
      </p:sp>
      <p:sp>
        <p:nvSpPr>
          <p:cNvPr id="20" name="图片占位符 10"/>
          <p:cNvSpPr>
            <a:spLocks noGrp="1"/>
          </p:cNvSpPr>
          <p:nvPr>
            <p:ph type="pic" sz="quarter" idx="21"/>
          </p:nvPr>
        </p:nvSpPr>
        <p:spPr>
          <a:xfrm>
            <a:off x="4255736" y="3774558"/>
            <a:ext cx="3070587" cy="224365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22" name="内容占位符 6"/>
          <p:cNvSpPr>
            <a:spLocks noGrp="1"/>
          </p:cNvSpPr>
          <p:nvPr>
            <p:ph sz="quarter" idx="23" hasCustomPrompt="1"/>
          </p:nvPr>
        </p:nvSpPr>
        <p:spPr>
          <a:xfrm>
            <a:off x="7795887" y="1826524"/>
            <a:ext cx="3070587" cy="1089025"/>
          </a:xfrm>
        </p:spPr>
        <p:txBody>
          <a:bodyPr/>
          <a:lstStyle>
            <a:lvl1pPr>
              <a:buNone/>
              <a:defRPr sz="1400" b="0" i="0"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</a:lstStyle>
          <a:p>
            <a:pPr lvl="0"/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en-US" altLang="zh-CN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  <a:p>
            <a:pPr marL="215900" marR="0" lvl="0" indent="-21590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dirty="0"/>
              <a:t>单击此处添加文案内容 字体思源黑体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14</a:t>
            </a:r>
            <a:endParaRPr kumimoji="1" lang="zh-CN" altLang="en-US" dirty="0"/>
          </a:p>
        </p:txBody>
      </p:sp>
      <p:sp>
        <p:nvSpPr>
          <p:cNvPr id="23" name="图片占位符 10"/>
          <p:cNvSpPr>
            <a:spLocks noGrp="1"/>
          </p:cNvSpPr>
          <p:nvPr>
            <p:ph type="pic" sz="quarter" idx="24"/>
          </p:nvPr>
        </p:nvSpPr>
        <p:spPr>
          <a:xfrm>
            <a:off x="7795888" y="3774558"/>
            <a:ext cx="3070587" cy="2243655"/>
          </a:xfrm>
        </p:spPr>
        <p:txBody>
          <a:bodyPr/>
          <a:lstStyle/>
          <a:p>
            <a:endParaRPr kumimoji="1" lang="zh-CN" altLang="en-US"/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88369" y="413994"/>
            <a:ext cx="724252" cy="29871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4" y="6213475"/>
            <a:ext cx="11518900" cy="266700"/>
          </a:xfrm>
          <a:prstGeom prst="rect">
            <a:avLst/>
          </a:prstGeom>
        </p:spPr>
      </p:pic>
      <p:sp>
        <p:nvSpPr>
          <p:cNvPr id="24" name="文本占位符 3"/>
          <p:cNvSpPr>
            <a:spLocks noGrp="1"/>
          </p:cNvSpPr>
          <p:nvPr>
            <p:ph type="body" sz="quarter" idx="16" hasCustomPrompt="1"/>
          </p:nvPr>
        </p:nvSpPr>
        <p:spPr>
          <a:xfrm>
            <a:off x="714603" y="1201057"/>
            <a:ext cx="4385893" cy="319088"/>
          </a:xfrm>
        </p:spPr>
        <p:txBody>
          <a:bodyPr/>
          <a:lstStyle>
            <a:lvl1pPr>
              <a:buNone/>
              <a:defRPr sz="2400" b="0" i="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pPr lvl="0"/>
            <a:r>
              <a:rPr kumimoji="1" lang="zh-CN" altLang="en-US"/>
              <a:t>小标题 思源</a:t>
            </a:r>
            <a:r>
              <a:rPr kumimoji="1" lang="en-US" altLang="zh-CN"/>
              <a:t>Medium</a:t>
            </a:r>
            <a:r>
              <a:rPr kumimoji="1" lang="zh-CN" altLang="en-US"/>
              <a:t> </a:t>
            </a:r>
            <a:r>
              <a:rPr kumimoji="1" lang="en-US" altLang="zh-CN"/>
              <a:t>24</a:t>
            </a:r>
            <a:endParaRPr kumimoji="1" lang="zh-CN" altLang="en-US"/>
          </a:p>
        </p:txBody>
      </p:sp>
      <p:sp>
        <p:nvSpPr>
          <p:cNvPr id="25" name="文本占位符 3"/>
          <p:cNvSpPr>
            <a:spLocks noGrp="1"/>
          </p:cNvSpPr>
          <p:nvPr>
            <p:ph type="body" sz="quarter" idx="19" hasCustomPrompt="1"/>
          </p:nvPr>
        </p:nvSpPr>
        <p:spPr>
          <a:xfrm>
            <a:off x="4255735" y="1201057"/>
            <a:ext cx="4385893" cy="319088"/>
          </a:xfrm>
        </p:spPr>
        <p:txBody>
          <a:bodyPr/>
          <a:lstStyle>
            <a:lvl1pPr>
              <a:buNone/>
              <a:defRPr sz="2400" b="0" i="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pPr lvl="0"/>
            <a:r>
              <a:rPr kumimoji="1" lang="zh-CN" altLang="en-US"/>
              <a:t>小标题 思源</a:t>
            </a:r>
            <a:r>
              <a:rPr kumimoji="1" lang="en-US" altLang="zh-CN"/>
              <a:t>Medium</a:t>
            </a:r>
            <a:r>
              <a:rPr kumimoji="1" lang="zh-CN" altLang="en-US"/>
              <a:t> </a:t>
            </a:r>
            <a:r>
              <a:rPr kumimoji="1" lang="en-US" altLang="zh-CN"/>
              <a:t>24</a:t>
            </a:r>
            <a:endParaRPr kumimoji="1"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22" hasCustomPrompt="1"/>
          </p:nvPr>
        </p:nvSpPr>
        <p:spPr>
          <a:xfrm>
            <a:off x="7795887" y="1201057"/>
            <a:ext cx="3419801" cy="319088"/>
          </a:xfrm>
        </p:spPr>
        <p:txBody>
          <a:bodyPr/>
          <a:lstStyle>
            <a:lvl1pPr>
              <a:buNone/>
              <a:defRPr sz="2400" b="0" i="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pPr lvl="0"/>
            <a:r>
              <a:rPr kumimoji="1" lang="zh-CN" altLang="en-US"/>
              <a:t>小标题 思源</a:t>
            </a:r>
            <a:r>
              <a:rPr kumimoji="1" lang="en-US" altLang="zh-CN"/>
              <a:t>Medium</a:t>
            </a:r>
            <a:r>
              <a:rPr kumimoji="1" lang="zh-CN" altLang="en-US"/>
              <a:t> </a:t>
            </a:r>
            <a:r>
              <a:rPr kumimoji="1" lang="en-US" altLang="zh-CN"/>
              <a:t>24</a:t>
            </a:r>
            <a:endParaRPr kumimoji="1" lang="zh-CN" altLang="en-US"/>
          </a:p>
        </p:txBody>
      </p:sp>
      <p:sp>
        <p:nvSpPr>
          <p:cNvPr id="27" name="标题 1"/>
          <p:cNvSpPr>
            <a:spLocks noGrp="1"/>
          </p:cNvSpPr>
          <p:nvPr>
            <p:ph type="title" hasCustomPrompt="1"/>
          </p:nvPr>
        </p:nvSpPr>
        <p:spPr>
          <a:xfrm>
            <a:off x="714604" y="404222"/>
            <a:ext cx="5292658" cy="374410"/>
          </a:xfrm>
        </p:spPr>
        <p:txBody>
          <a:bodyPr>
            <a:noAutofit/>
          </a:bodyPr>
          <a:lstStyle>
            <a:lvl1pPr>
              <a:defRPr sz="2800" b="0" i="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r>
              <a:rPr kumimoji="1" lang="zh-CN" altLang="en-US" dirty="0"/>
              <a:t>主标题思源黑体</a:t>
            </a:r>
            <a:r>
              <a:rPr kumimoji="1" lang="en-US" altLang="zh-CN" dirty="0"/>
              <a:t>Medium</a:t>
            </a:r>
            <a:r>
              <a:rPr kumimoji="1" lang="zh-CN" altLang="en-US" dirty="0"/>
              <a:t> </a:t>
            </a:r>
            <a:r>
              <a:rPr kumimoji="1" lang="en-US" altLang="zh-CN" dirty="0"/>
              <a:t>28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2000"/>
                    </a14:imgEffect>
                  </a14:imgLayer>
                </a14:imgProps>
              </a:ext>
            </a:extLst>
          </a:blip>
          <a:srcRect t="3778" b="8591"/>
          <a:stretch>
            <a:fillRect/>
          </a:stretch>
        </p:blipFill>
        <p:spPr>
          <a:xfrm>
            <a:off x="0" y="-589280"/>
            <a:ext cx="11518900" cy="671576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-589280"/>
            <a:ext cx="11520488" cy="6955356"/>
          </a:xfrm>
          <a:prstGeom prst="rect">
            <a:avLst/>
          </a:prstGeom>
          <a:solidFill>
            <a:srgbClr val="0B67E4">
              <a:alpha val="6093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 flipV="1">
            <a:off x="794" y="4673599"/>
            <a:ext cx="11519694" cy="1806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4" y="4592953"/>
            <a:ext cx="11518900" cy="4445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ctrTitle" hasCustomPrompt="1"/>
          </p:nvPr>
        </p:nvSpPr>
        <p:spPr>
          <a:xfrm>
            <a:off x="736282" y="1582023"/>
            <a:ext cx="9548326" cy="929984"/>
          </a:xfrm>
        </p:spPr>
        <p:txBody>
          <a:bodyPr anchor="b">
            <a:normAutofit/>
          </a:bodyPr>
          <a:lstStyle>
            <a:lvl1pPr algn="l">
              <a:defRPr sz="4600" b="0" i="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r>
              <a:rPr kumimoji="1" lang="en-US" altLang="zh-CN" dirty="0"/>
              <a:t>THANKS!</a:t>
            </a:r>
            <a:r>
              <a:rPr kumimoji="1" lang="zh-CN" altLang="en-US" dirty="0"/>
              <a:t>思源黑体</a:t>
            </a:r>
            <a:r>
              <a:rPr kumimoji="1" lang="en-US" altLang="zh-CN" dirty="0"/>
              <a:t>Medium </a:t>
            </a:r>
            <a:r>
              <a:rPr kumimoji="1" lang="zh-CN" altLang="en-US" dirty="0"/>
              <a:t>字号</a:t>
            </a:r>
            <a:r>
              <a:rPr kumimoji="1" lang="en-US" altLang="zh-CN" dirty="0"/>
              <a:t>46</a:t>
            </a:r>
            <a:endParaRPr kumimoji="1" lang="zh-CN" altLang="en-US" dirty="0"/>
          </a:p>
        </p:txBody>
      </p:sp>
      <p:sp>
        <p:nvSpPr>
          <p:cNvPr id="18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736282" y="2512007"/>
            <a:ext cx="8640366" cy="441012"/>
          </a:xfrm>
        </p:spPr>
        <p:txBody>
          <a:bodyPr/>
          <a:lstStyle>
            <a:lvl1pPr marL="0" indent="0" algn="l">
              <a:buNone/>
              <a:defRPr b="0" i="0">
                <a:solidFill>
                  <a:schemeClr val="bg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</a:lstStyle>
          <a:p>
            <a:r>
              <a:rPr kumimoji="1" lang="zh-CN" altLang="en-US" dirty="0"/>
              <a:t>感谢您的观看！思源黑体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26.5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743998" y="5806441"/>
            <a:ext cx="2855595" cy="559635"/>
          </a:xfrm>
        </p:spPr>
        <p:txBody>
          <a:bodyPr/>
          <a:lstStyle>
            <a:lvl1pPr>
              <a:buNone/>
              <a:defRPr sz="800" b="0" i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pPr lvl="0"/>
            <a:r>
              <a:rPr kumimoji="1" lang="zh-CN" altLang="en-US"/>
              <a:t>电话：</a:t>
            </a:r>
            <a:r>
              <a:rPr kumimoji="1" lang="en-US" altLang="zh-CN"/>
              <a:t>+86 592 3351797        </a:t>
            </a:r>
            <a:r>
              <a:rPr kumimoji="1" lang="zh-CN" altLang="en-US"/>
              <a:t>邮箱：</a:t>
            </a:r>
            <a:r>
              <a:rPr kumimoji="1" lang="en-GB" altLang="zh-CN"/>
              <a:t>www.@cxtc.com</a:t>
            </a:r>
            <a:endParaRPr kumimoji="1" lang="en-GB" altLang="zh-CN"/>
          </a:p>
          <a:p>
            <a:pPr lvl="0"/>
            <a:r>
              <a:rPr kumimoji="1" lang="zh-CN" altLang="en-US"/>
              <a:t>福建省厦门市展鸿路</a:t>
            </a:r>
            <a:r>
              <a:rPr kumimoji="1" lang="en-US" altLang="zh-CN"/>
              <a:t>81</a:t>
            </a:r>
            <a:r>
              <a:rPr kumimoji="1" lang="zh-CN" altLang="en-US"/>
              <a:t>号特房波特曼财富中心</a:t>
            </a:r>
            <a:r>
              <a:rPr kumimoji="1" lang="en-GB" altLang="zh-CN"/>
              <a:t>A</a:t>
            </a:r>
            <a:r>
              <a:rPr kumimoji="1" lang="zh-CN" altLang="en-US"/>
              <a:t>座</a:t>
            </a:r>
            <a:r>
              <a:rPr kumimoji="1" lang="en-US" altLang="zh-CN"/>
              <a:t>21</a:t>
            </a:r>
            <a:r>
              <a:rPr kumimoji="1" lang="zh-CN" altLang="en-US"/>
              <a:t>层</a:t>
            </a:r>
            <a:endParaRPr kumimoji="1"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5" hasCustomPrompt="1"/>
          </p:nvPr>
        </p:nvSpPr>
        <p:spPr>
          <a:xfrm>
            <a:off x="743998" y="5491292"/>
            <a:ext cx="1727835" cy="233362"/>
          </a:xfrm>
        </p:spPr>
        <p:txBody>
          <a:bodyPr/>
          <a:lstStyle>
            <a:lvl1pPr>
              <a:buNone/>
              <a:defRPr sz="850" b="0" i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pPr lvl="0"/>
            <a:r>
              <a:rPr kumimoji="1" lang="en-GB" altLang="zh-CN"/>
              <a:t>XIAMEN TUNGSTEN  CO., LTD.</a:t>
            </a:r>
            <a:endParaRPr kumimoji="1" lang="zh-CN" altLang="en-US"/>
          </a:p>
        </p:txBody>
      </p:sp>
      <p:sp>
        <p:nvSpPr>
          <p:cNvPr id="15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743998" y="5244428"/>
            <a:ext cx="1727835" cy="246863"/>
          </a:xfrm>
        </p:spPr>
        <p:txBody>
          <a:bodyPr/>
          <a:lstStyle>
            <a:lvl1pPr>
              <a:buNone/>
              <a:defRPr sz="1200" b="0" i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pPr lvl="0"/>
            <a:r>
              <a:rPr kumimoji="1" lang="zh-CN" altLang="en-GB"/>
              <a:t>厦门钨业</a:t>
            </a:r>
            <a:r>
              <a:rPr kumimoji="1" lang="zh-CN" altLang="en-US"/>
              <a:t>股份有限公司</a:t>
            </a:r>
            <a:endParaRPr kumimoji="1"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92726" y="5244429"/>
            <a:ext cx="983764" cy="9837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576024" y="6006163"/>
            <a:ext cx="2688114" cy="34501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936167" y="6006163"/>
            <a:ext cx="3648155" cy="34501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256350" y="6006163"/>
            <a:ext cx="2688114" cy="34501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fld id="{087A0A69-443B-43C6-8C78-37161ABC79C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34" y="345010"/>
            <a:ext cx="9936421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034" y="1725046"/>
            <a:ext cx="9936421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D9DDB-55F7-D746-A2DF-EE6F0BBD7B4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DB769-B7C8-1742-B945-413FECE988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864235" rtl="0" eaLnBrk="1" latinLnBrk="0" hangingPunct="1">
        <a:lnSpc>
          <a:spcPct val="90000"/>
        </a:lnSpc>
        <a:spcBef>
          <a:spcPct val="0"/>
        </a:spcBef>
        <a:buNone/>
        <a:defRPr sz="4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5900" indent="-215900" algn="l" defTabSz="864235" rtl="0" eaLnBrk="1" latinLnBrk="0" hangingPunct="1">
        <a:lnSpc>
          <a:spcPct val="90000"/>
        </a:lnSpc>
        <a:spcBef>
          <a:spcPts val="945"/>
        </a:spcBef>
        <a:buFont typeface="Arial" panose="020B0604020202090204" pitchFamily="34" charset="0"/>
        <a:buChar char="•"/>
        <a:defRPr sz="2645" kern="1200">
          <a:solidFill>
            <a:schemeClr val="tx1"/>
          </a:solidFill>
          <a:latin typeface="+mn-lt"/>
          <a:ea typeface="+mn-ea"/>
          <a:cs typeface="+mn-cs"/>
        </a:defRPr>
      </a:lvl1pPr>
      <a:lvl2pPr marL="647700" indent="-215900" algn="l" defTabSz="864235" rtl="0" eaLnBrk="1" latinLnBrk="0" hangingPunct="1">
        <a:lnSpc>
          <a:spcPct val="90000"/>
        </a:lnSpc>
        <a:spcBef>
          <a:spcPts val="470"/>
        </a:spcBef>
        <a:buFont typeface="Arial" panose="020B0604020202090204" pitchFamily="34" charset="0"/>
        <a:buChar char="•"/>
        <a:defRPr sz="2270" kern="1200">
          <a:solidFill>
            <a:schemeClr val="tx1"/>
          </a:solidFill>
          <a:latin typeface="+mn-lt"/>
          <a:ea typeface="+mn-ea"/>
          <a:cs typeface="+mn-cs"/>
        </a:defRPr>
      </a:lvl2pPr>
      <a:lvl3pPr marL="1080135" indent="-215900" algn="l" defTabSz="864235" rtl="0" eaLnBrk="1" latinLnBrk="0" hangingPunct="1">
        <a:lnSpc>
          <a:spcPct val="90000"/>
        </a:lnSpc>
        <a:spcBef>
          <a:spcPts val="470"/>
        </a:spcBef>
        <a:buFont typeface="Arial" panose="020B060402020209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1935" indent="-215900" algn="l" defTabSz="864235" rtl="0" eaLnBrk="1" latinLnBrk="0" hangingPunct="1">
        <a:lnSpc>
          <a:spcPct val="90000"/>
        </a:lnSpc>
        <a:spcBef>
          <a:spcPts val="470"/>
        </a:spcBef>
        <a:buFont typeface="Arial" panose="020B060402020209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943735" indent="-215900" algn="l" defTabSz="864235" rtl="0" eaLnBrk="1" latinLnBrk="0" hangingPunct="1">
        <a:lnSpc>
          <a:spcPct val="90000"/>
        </a:lnSpc>
        <a:spcBef>
          <a:spcPts val="470"/>
        </a:spcBef>
        <a:buFont typeface="Arial" panose="020B060402020209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376170" indent="-215900" algn="l" defTabSz="864235" rtl="0" eaLnBrk="1" latinLnBrk="0" hangingPunct="1">
        <a:lnSpc>
          <a:spcPct val="90000"/>
        </a:lnSpc>
        <a:spcBef>
          <a:spcPts val="470"/>
        </a:spcBef>
        <a:buFont typeface="Arial" panose="020B060402020209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807970" indent="-215900" algn="l" defTabSz="864235" rtl="0" eaLnBrk="1" latinLnBrk="0" hangingPunct="1">
        <a:lnSpc>
          <a:spcPct val="90000"/>
        </a:lnSpc>
        <a:spcBef>
          <a:spcPts val="470"/>
        </a:spcBef>
        <a:buFont typeface="Arial" panose="020B060402020209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39770" indent="-215900" algn="l" defTabSz="864235" rtl="0" eaLnBrk="1" latinLnBrk="0" hangingPunct="1">
        <a:lnSpc>
          <a:spcPct val="90000"/>
        </a:lnSpc>
        <a:spcBef>
          <a:spcPts val="470"/>
        </a:spcBef>
        <a:buFont typeface="Arial" panose="020B060402020209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72205" indent="-215900" algn="l" defTabSz="864235" rtl="0" eaLnBrk="1" latinLnBrk="0" hangingPunct="1">
        <a:lnSpc>
          <a:spcPct val="90000"/>
        </a:lnSpc>
        <a:spcBef>
          <a:spcPts val="470"/>
        </a:spcBef>
        <a:buFont typeface="Arial" panose="020B060402020209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180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423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9603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2783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027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9207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2387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5630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jpeg"/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jpeg"/><Relationship Id="rId3" Type="http://schemas.openxmlformats.org/officeDocument/2006/relationships/image" Target="../media/image15.jpe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jpeg"/><Relationship Id="rId3" Type="http://schemas.openxmlformats.org/officeDocument/2006/relationships/image" Target="../media/image17.jpe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jpeg"/><Relationship Id="rId3" Type="http://schemas.openxmlformats.org/officeDocument/2006/relationships/image" Target="../media/image19.jpe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jpe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jpe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jpeg"/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jpe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jpe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8.jpeg"/><Relationship Id="rId3" Type="http://schemas.openxmlformats.org/officeDocument/2006/relationships/image" Target="../media/image27.jpe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jpeg"/><Relationship Id="rId3" Type="http://schemas.openxmlformats.org/officeDocument/2006/relationships/image" Target="../media/image15.jpe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jpe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8.jpe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jpe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jpe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1.jpe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3.jpeg"/><Relationship Id="rId3" Type="http://schemas.openxmlformats.org/officeDocument/2006/relationships/image" Target="../media/image32.jpe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5.jpeg"/><Relationship Id="rId3" Type="http://schemas.openxmlformats.org/officeDocument/2006/relationships/image" Target="../media/image34.jpe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image" Target="../media/image5.jpe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jpe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7.jpe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5.jpe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jpeg"/><Relationship Id="rId3" Type="http://schemas.openxmlformats.org/officeDocument/2006/relationships/image" Target="../media/image15.jpe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6.jpe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8.jpeg"/><Relationship Id="rId3" Type="http://schemas.openxmlformats.org/officeDocument/2006/relationships/image" Target="../media/image37.jpe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9.jpe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jpe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0.jpe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3.jpeg"/><Relationship Id="rId3" Type="http://schemas.openxmlformats.org/officeDocument/2006/relationships/image" Target="../media/image32.jpe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5.jpeg"/><Relationship Id="rId3" Type="http://schemas.openxmlformats.org/officeDocument/2006/relationships/image" Target="../media/image34.jpe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image" Target="../media/image5.jpeg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2.jpeg"/><Relationship Id="rId3" Type="http://schemas.openxmlformats.org/officeDocument/2006/relationships/image" Target="../media/image41.jpe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microsoft.com/office/2007/relationships/hdphoto" Target="../media/image10.wdp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-45000"/>
                    </a14:imgEffect>
                  </a14:imgLayer>
                </a14:imgProps>
              </a:ext>
            </a:extLst>
          </a:blip>
          <a:srcRect t="12546" b="28136"/>
          <a:stretch>
            <a:fillRect/>
          </a:stretch>
        </p:blipFill>
        <p:spPr>
          <a:xfrm flipH="1">
            <a:off x="0" y="-1"/>
            <a:ext cx="11519694" cy="513198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-794" y="0"/>
            <a:ext cx="11520488" cy="4853065"/>
          </a:xfrm>
          <a:prstGeom prst="rect">
            <a:avLst/>
          </a:prstGeom>
          <a:solidFill>
            <a:srgbClr val="1075FD">
              <a:alpha val="5832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矩形 12"/>
          <p:cNvSpPr/>
          <p:nvPr/>
        </p:nvSpPr>
        <p:spPr>
          <a:xfrm flipV="1">
            <a:off x="794" y="4953964"/>
            <a:ext cx="11519694" cy="1526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36282" y="745286"/>
            <a:ext cx="9250275" cy="929984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b="0" i="0" kern="120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zh-CN" altLang="en-US" dirty="0" smtClean="0"/>
              <a:t>商机</a:t>
            </a:r>
            <a:r>
              <a:rPr kumimoji="1" lang="en-US" altLang="zh-CN" dirty="0" smtClean="0"/>
              <a:t>-</a:t>
            </a:r>
            <a:r>
              <a:rPr kumimoji="1" lang="zh-CN" altLang="en-US" dirty="0" smtClean="0"/>
              <a:t>询单操作手册</a:t>
            </a:r>
            <a:endParaRPr kumimoji="1" lang="zh-CN" altLang="en-US" dirty="0"/>
          </a:p>
        </p:txBody>
      </p:sp>
      <p:sp>
        <p:nvSpPr>
          <p:cNvPr id="15" name="文本占位符 20"/>
          <p:cNvSpPr txBox="1"/>
          <p:nvPr/>
        </p:nvSpPr>
        <p:spPr>
          <a:xfrm>
            <a:off x="736282" y="1675270"/>
            <a:ext cx="8640366" cy="441012"/>
          </a:xfrm>
          <a:prstGeom prst="rect">
            <a:avLst/>
          </a:prstGeom>
        </p:spPr>
        <p:txBody>
          <a:bodyPr/>
          <a:lstStyle>
            <a:lvl1pPr marL="0" indent="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645" b="0" i="0" kern="1200">
                <a:solidFill>
                  <a:schemeClr val="bg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/>
          </a:p>
        </p:txBody>
      </p:sp>
      <p:sp>
        <p:nvSpPr>
          <p:cNvPr id="17" name="文本占位符 18"/>
          <p:cNvSpPr txBox="1"/>
          <p:nvPr/>
        </p:nvSpPr>
        <p:spPr>
          <a:xfrm>
            <a:off x="9085965" y="5781314"/>
            <a:ext cx="1988924" cy="327025"/>
          </a:xfrm>
          <a:prstGeom prst="rect">
            <a:avLst/>
          </a:prstGeom>
        </p:spPr>
        <p:txBody>
          <a:bodyPr/>
          <a:lstStyle>
            <a:lvl1pPr marL="215900" indent="-215900" algn="r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1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GB" dirty="0"/>
              <a:t>网址</a:t>
            </a:r>
            <a:r>
              <a:rPr kumimoji="1" lang="zh-CN" altLang="en-US" dirty="0"/>
              <a:t>思源黑体</a:t>
            </a:r>
            <a:r>
              <a:rPr kumimoji="1" lang="en-US" altLang="zh-CN" dirty="0"/>
              <a:t>Normal</a:t>
            </a:r>
            <a:r>
              <a:rPr kumimoji="1" lang="zh-CN" altLang="en-US" dirty="0"/>
              <a:t> 字号</a:t>
            </a:r>
            <a:r>
              <a:rPr kumimoji="1" lang="en-US" altLang="zh-CN" dirty="0"/>
              <a:t>11</a:t>
            </a:r>
            <a:endParaRPr kumimoji="1" lang="zh-CN" altLang="en-US" dirty="0"/>
          </a:p>
        </p:txBody>
      </p:sp>
      <p:sp>
        <p:nvSpPr>
          <p:cNvPr id="18" name="文本占位符 8"/>
          <p:cNvSpPr txBox="1"/>
          <p:nvPr/>
        </p:nvSpPr>
        <p:spPr>
          <a:xfrm>
            <a:off x="736282" y="3797386"/>
            <a:ext cx="4467567" cy="353214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500" b="0" i="0" kern="1200">
                <a:solidFill>
                  <a:schemeClr val="bg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汇报人</a:t>
            </a:r>
            <a:r>
              <a:rPr kumimoji="1" lang="en-US" altLang="zh-CN" dirty="0"/>
              <a:t> </a:t>
            </a:r>
            <a:r>
              <a:rPr kumimoji="1" lang="zh-CN" altLang="en-US" dirty="0" smtClean="0"/>
              <a:t>：黄小玲</a:t>
            </a:r>
            <a:endParaRPr kumimoji="1" lang="en-US" altLang="zh-CN" dirty="0"/>
          </a:p>
        </p:txBody>
      </p:sp>
      <p:sp>
        <p:nvSpPr>
          <p:cNvPr id="19" name="文本占位符 8"/>
          <p:cNvSpPr txBox="1"/>
          <p:nvPr/>
        </p:nvSpPr>
        <p:spPr>
          <a:xfrm>
            <a:off x="736282" y="4133051"/>
            <a:ext cx="4467567" cy="353214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500" b="0" i="0" kern="1200">
                <a:solidFill>
                  <a:schemeClr val="bg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汇报日期</a:t>
            </a:r>
            <a:r>
              <a:rPr kumimoji="1" lang="en-US" altLang="zh-CN" dirty="0"/>
              <a:t> </a:t>
            </a:r>
            <a:r>
              <a:rPr kumimoji="1" lang="zh-CN" altLang="en-US" dirty="0" smtClean="0"/>
              <a:t>：</a:t>
            </a:r>
            <a:r>
              <a:rPr kumimoji="1" lang="en-US" altLang="zh-CN" dirty="0" smtClean="0"/>
              <a:t>2026.6.27</a:t>
            </a:r>
            <a:endParaRPr kumimoji="1" lang="en-US" altLang="zh-CN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" y="4853065"/>
            <a:ext cx="11518900" cy="4445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282" y="5663358"/>
            <a:ext cx="2224775" cy="4410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1">
            <a:alphaModFix amt="85000"/>
          </a:blip>
          <a:srcRect l="9473" t="7722" r="50790" b="7778"/>
          <a:stretch>
            <a:fillRect/>
          </a:stretch>
        </p:blipFill>
        <p:spPr>
          <a:xfrm>
            <a:off x="0" y="0"/>
            <a:ext cx="4580525" cy="6480176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-1" y="0"/>
            <a:ext cx="4580525" cy="6480175"/>
          </a:xfrm>
          <a:prstGeom prst="rect">
            <a:avLst/>
          </a:prstGeom>
          <a:solidFill>
            <a:srgbClr val="0B67E4">
              <a:alpha val="6206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2" name="文本占位符 9"/>
          <p:cNvSpPr txBox="1"/>
          <p:nvPr/>
        </p:nvSpPr>
        <p:spPr>
          <a:xfrm>
            <a:off x="625351" y="758405"/>
            <a:ext cx="1385400" cy="6355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3600" b="0" i="0" kern="1200">
                <a:solidFill>
                  <a:srgbClr val="E0C875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目录</a:t>
            </a:r>
            <a:endParaRPr kumimoji="1" lang="zh-CN" altLang="en-US" dirty="0"/>
          </a:p>
        </p:txBody>
      </p:sp>
      <p:sp>
        <p:nvSpPr>
          <p:cNvPr id="23" name="文本占位符 9"/>
          <p:cNvSpPr txBox="1"/>
          <p:nvPr/>
        </p:nvSpPr>
        <p:spPr>
          <a:xfrm>
            <a:off x="1725459" y="917233"/>
            <a:ext cx="1888233" cy="3179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E0C875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CONTENTS</a:t>
            </a:r>
            <a:r>
              <a:rPr kumimoji="1" lang="zh-CN" altLang="en-US" dirty="0"/>
              <a:t> </a:t>
            </a:r>
            <a:endParaRPr kumimoji="1" lang="zh-CN" altLang="en-US" dirty="0"/>
          </a:p>
        </p:txBody>
      </p:sp>
      <p:sp>
        <p:nvSpPr>
          <p:cNvPr id="24" name="文本占位符 12"/>
          <p:cNvSpPr txBox="1"/>
          <p:nvPr/>
        </p:nvSpPr>
        <p:spPr>
          <a:xfrm>
            <a:off x="6642791" y="1333201"/>
            <a:ext cx="4003008" cy="4864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询单业务</a:t>
            </a:r>
            <a:r>
              <a:rPr kumimoji="1" lang="zh-CN" altLang="en-US" dirty="0"/>
              <a:t>流程</a:t>
            </a:r>
            <a:endParaRPr kumimoji="1" lang="zh-CN" altLang="en-US" dirty="0"/>
          </a:p>
        </p:txBody>
      </p:sp>
      <p:sp>
        <p:nvSpPr>
          <p:cNvPr id="25" name="文本占位符 12"/>
          <p:cNvSpPr txBox="1"/>
          <p:nvPr/>
        </p:nvSpPr>
        <p:spPr>
          <a:xfrm>
            <a:off x="6642791" y="1597230"/>
            <a:ext cx="3092425" cy="53203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kumimoji="1" lang="zh-CN" altLang="en-US" dirty="0"/>
          </a:p>
        </p:txBody>
      </p:sp>
      <p:sp>
        <p:nvSpPr>
          <p:cNvPr id="26" name="文本占位符 22"/>
          <p:cNvSpPr txBox="1"/>
          <p:nvPr/>
        </p:nvSpPr>
        <p:spPr>
          <a:xfrm>
            <a:off x="5491108" y="1180745"/>
            <a:ext cx="987173" cy="901868"/>
          </a:xfrm>
          <a:prstGeom prst="rect">
            <a:avLst/>
          </a:prstGeom>
        </p:spPr>
        <p:txBody>
          <a:bodyPr/>
          <a:lstStyle>
            <a:lvl1pPr marL="0" indent="0" algn="ctr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4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cxnSp>
        <p:nvCxnSpPr>
          <p:cNvPr id="27" name="直线连接符 26"/>
          <p:cNvCxnSpPr/>
          <p:nvPr/>
        </p:nvCxnSpPr>
        <p:spPr>
          <a:xfrm>
            <a:off x="6500025" y="1315652"/>
            <a:ext cx="0" cy="503999"/>
          </a:xfrm>
          <a:prstGeom prst="line">
            <a:avLst/>
          </a:prstGeom>
          <a:ln w="25400">
            <a:solidFill>
              <a:srgbClr val="002B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占位符 12"/>
          <p:cNvSpPr txBox="1"/>
          <p:nvPr/>
        </p:nvSpPr>
        <p:spPr>
          <a:xfrm>
            <a:off x="6642791" y="2529478"/>
            <a:ext cx="4003008" cy="4864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/>
              <a:t>需求</a:t>
            </a:r>
            <a:r>
              <a:rPr lang="zh-CN" altLang="en-US" dirty="0" smtClean="0"/>
              <a:t>建模</a:t>
            </a:r>
            <a:endParaRPr lang="zh-CN" altLang="en-US" dirty="0" smtClean="0"/>
          </a:p>
        </p:txBody>
      </p:sp>
      <p:sp>
        <p:nvSpPr>
          <p:cNvPr id="29" name="文本占位符 12"/>
          <p:cNvSpPr txBox="1"/>
          <p:nvPr/>
        </p:nvSpPr>
        <p:spPr>
          <a:xfrm>
            <a:off x="6642791" y="2782969"/>
            <a:ext cx="3092425" cy="53203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kumimoji="1" lang="zh-CN" altLang="en-US" dirty="0"/>
          </a:p>
        </p:txBody>
      </p:sp>
      <p:sp>
        <p:nvSpPr>
          <p:cNvPr id="30" name="文本占位符 22"/>
          <p:cNvSpPr txBox="1"/>
          <p:nvPr/>
        </p:nvSpPr>
        <p:spPr>
          <a:xfrm>
            <a:off x="5491108" y="2366484"/>
            <a:ext cx="987173" cy="901868"/>
          </a:xfrm>
          <a:prstGeom prst="rect">
            <a:avLst/>
          </a:prstGeom>
        </p:spPr>
        <p:txBody>
          <a:bodyPr/>
          <a:lstStyle>
            <a:lvl1pPr marL="0" indent="0" algn="ctr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4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02</a:t>
            </a:r>
            <a:endParaRPr kumimoji="1" lang="zh-CN" altLang="en-US" dirty="0"/>
          </a:p>
        </p:txBody>
      </p:sp>
      <p:cxnSp>
        <p:nvCxnSpPr>
          <p:cNvPr id="31" name="直线连接符 30"/>
          <p:cNvCxnSpPr/>
          <p:nvPr/>
        </p:nvCxnSpPr>
        <p:spPr>
          <a:xfrm>
            <a:off x="6500025" y="2501391"/>
            <a:ext cx="0" cy="503999"/>
          </a:xfrm>
          <a:prstGeom prst="line">
            <a:avLst/>
          </a:prstGeom>
          <a:ln w="25400">
            <a:solidFill>
              <a:srgbClr val="002B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占位符 12"/>
          <p:cNvSpPr txBox="1"/>
          <p:nvPr/>
        </p:nvSpPr>
        <p:spPr>
          <a:xfrm>
            <a:off x="6642791" y="3718919"/>
            <a:ext cx="4003008" cy="4864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/>
              <a:t>报表展示</a:t>
            </a:r>
            <a:r>
              <a:rPr lang="zh-CN" altLang="en-US" dirty="0" smtClean="0"/>
              <a:t>样例</a:t>
            </a:r>
            <a:endParaRPr lang="zh-CN" altLang="en-US" dirty="0" smtClean="0"/>
          </a:p>
        </p:txBody>
      </p:sp>
      <p:sp>
        <p:nvSpPr>
          <p:cNvPr id="15" name="文本占位符 22"/>
          <p:cNvSpPr txBox="1"/>
          <p:nvPr/>
        </p:nvSpPr>
        <p:spPr>
          <a:xfrm>
            <a:off x="5491108" y="3566463"/>
            <a:ext cx="987173" cy="901868"/>
          </a:xfrm>
          <a:prstGeom prst="rect">
            <a:avLst/>
          </a:prstGeom>
        </p:spPr>
        <p:txBody>
          <a:bodyPr/>
          <a:lstStyle>
            <a:lvl1pPr marL="0" indent="0" algn="ctr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4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 smtClean="0"/>
              <a:t>03</a:t>
            </a:r>
            <a:endParaRPr kumimoji="1" lang="zh-CN" altLang="en-US" dirty="0"/>
          </a:p>
        </p:txBody>
      </p:sp>
      <p:cxnSp>
        <p:nvCxnSpPr>
          <p:cNvPr id="16" name="直线连接符 30"/>
          <p:cNvCxnSpPr/>
          <p:nvPr/>
        </p:nvCxnSpPr>
        <p:spPr>
          <a:xfrm>
            <a:off x="6500025" y="3701370"/>
            <a:ext cx="0" cy="503999"/>
          </a:xfrm>
          <a:prstGeom prst="line">
            <a:avLst/>
          </a:prstGeom>
          <a:ln w="25400">
            <a:solidFill>
              <a:srgbClr val="002B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alphaModFix amt="85000"/>
          </a:blip>
          <a:srcRect t="1963" b="23722"/>
          <a:stretch>
            <a:fillRect/>
          </a:stretch>
        </p:blipFill>
        <p:spPr>
          <a:xfrm>
            <a:off x="0" y="1657818"/>
            <a:ext cx="11520488" cy="482235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588" y="1657818"/>
            <a:ext cx="11518900" cy="4822357"/>
          </a:xfrm>
          <a:prstGeom prst="rect">
            <a:avLst/>
          </a:prstGeom>
          <a:solidFill>
            <a:srgbClr val="0B67E4">
              <a:alpha val="6206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        </a:t>
            </a:r>
            <a:endParaRPr kumimoji="1" lang="zh-CN" altLang="en-US" dirty="0"/>
          </a:p>
        </p:txBody>
      </p:sp>
      <p:sp>
        <p:nvSpPr>
          <p:cNvPr id="7" name="文本占位符 12"/>
          <p:cNvSpPr txBox="1"/>
          <p:nvPr/>
        </p:nvSpPr>
        <p:spPr>
          <a:xfrm>
            <a:off x="2367602" y="3328920"/>
            <a:ext cx="5598152" cy="61218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4000" b="0" i="0" kern="120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/>
              <a:t>交期评审</a:t>
            </a:r>
            <a:endParaRPr kumimoji="1" lang="zh-CN" altLang="en-US" dirty="0"/>
          </a:p>
        </p:txBody>
      </p:sp>
      <p:sp>
        <p:nvSpPr>
          <p:cNvPr id="8" name="文本占位符 12"/>
          <p:cNvSpPr txBox="1"/>
          <p:nvPr/>
        </p:nvSpPr>
        <p:spPr>
          <a:xfrm>
            <a:off x="2367602" y="3686176"/>
            <a:ext cx="4556816" cy="48150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sz="2400" b="0" i="0" kern="1200">
                <a:solidFill>
                  <a:schemeClr val="bg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kumimoji="1" lang="zh-CN" altLang="en-US" dirty="0"/>
          </a:p>
        </p:txBody>
      </p:sp>
      <p:sp>
        <p:nvSpPr>
          <p:cNvPr id="9" name="文本占位符 22"/>
          <p:cNvSpPr txBox="1"/>
          <p:nvPr/>
        </p:nvSpPr>
        <p:spPr>
          <a:xfrm>
            <a:off x="736282" y="3041304"/>
            <a:ext cx="1345790" cy="1226388"/>
          </a:xfrm>
          <a:prstGeom prst="rect">
            <a:avLst/>
          </a:prstGeom>
        </p:spPr>
        <p:txBody>
          <a:bodyPr/>
          <a:lstStyle>
            <a:lvl1pPr marL="0" indent="0" algn="ctr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7200" b="0" i="0" kern="1200">
                <a:solidFill>
                  <a:srgbClr val="E0C875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1</a:t>
            </a:r>
            <a:endParaRPr kumimoji="1" lang="en-US" altLang="zh-CN" dirty="0"/>
          </a:p>
        </p:txBody>
      </p:sp>
      <p:cxnSp>
        <p:nvCxnSpPr>
          <p:cNvPr id="10" name="直线连接符 9"/>
          <p:cNvCxnSpPr/>
          <p:nvPr/>
        </p:nvCxnSpPr>
        <p:spPr>
          <a:xfrm>
            <a:off x="2224836" y="3189658"/>
            <a:ext cx="0" cy="873024"/>
          </a:xfrm>
          <a:prstGeom prst="line">
            <a:avLst/>
          </a:prstGeom>
          <a:ln w="25400">
            <a:solidFill>
              <a:srgbClr val="E0C8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282" y="432205"/>
            <a:ext cx="2224775" cy="441013"/>
          </a:xfrm>
          <a:prstGeom prst="rect">
            <a:avLst/>
          </a:prstGeom>
        </p:spPr>
      </p:pic>
      <p:sp>
        <p:nvSpPr>
          <p:cNvPr id="12" name="菱形 11"/>
          <p:cNvSpPr/>
          <p:nvPr/>
        </p:nvSpPr>
        <p:spPr>
          <a:xfrm>
            <a:off x="8565702" y="1534884"/>
            <a:ext cx="167038" cy="167038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" y="1213318"/>
            <a:ext cx="11518900" cy="444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 smtClean="0"/>
              <a:t>01 </a:t>
            </a:r>
            <a:r>
              <a:rPr kumimoji="1" lang="zh-CN" altLang="en-US" dirty="0" smtClean="0"/>
              <a:t>交期评审</a:t>
            </a:r>
            <a:endParaRPr kumimoji="1" lang="en-US" altLang="zh-CN" dirty="0"/>
          </a:p>
        </p:txBody>
      </p:sp>
      <p:sp>
        <p:nvSpPr>
          <p:cNvPr id="25" name="文本占位符 3"/>
          <p:cNvSpPr txBox="1"/>
          <p:nvPr/>
        </p:nvSpPr>
        <p:spPr>
          <a:xfrm>
            <a:off x="7134595" y="1142475"/>
            <a:ext cx="4385893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/>
              <a:t>第二步：新建商机</a:t>
            </a:r>
            <a:endParaRPr kumimoji="1" lang="zh-CN" altLang="en-US" dirty="0"/>
          </a:p>
        </p:txBody>
      </p:sp>
      <p:sp>
        <p:nvSpPr>
          <p:cNvPr id="26" name="内容占位符 6"/>
          <p:cNvSpPr txBox="1"/>
          <p:nvPr/>
        </p:nvSpPr>
        <p:spPr>
          <a:xfrm>
            <a:off x="5314898" y="1552137"/>
            <a:ext cx="6143250" cy="4822802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400" b="0" i="0" kern="120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客户名称</a:t>
            </a:r>
            <a:r>
              <a:rPr kumimoji="1" lang="en-US" altLang="zh-CN" dirty="0" smtClean="0"/>
              <a:t>】</a:t>
            </a:r>
            <a:r>
              <a:rPr kumimoji="1" lang="zh-CN" altLang="en-US" dirty="0" smtClean="0"/>
              <a:t>输入</a:t>
            </a:r>
            <a:r>
              <a:rPr kumimoji="1" lang="zh-CN" altLang="en-US" dirty="0"/>
              <a:t>客户简称可显示客户名称进行选择，也可以点击放大镜，进行搜索</a:t>
            </a:r>
            <a:r>
              <a:rPr kumimoji="1" lang="zh-CN" altLang="en-US" dirty="0" smtClean="0"/>
              <a:t>客户</a:t>
            </a:r>
            <a:endParaRPr kumimoji="1" lang="en-US" altLang="zh-CN" dirty="0" smtClean="0"/>
          </a:p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 smtClean="0"/>
              <a:t>商机名称</a:t>
            </a:r>
            <a:r>
              <a:rPr kumimoji="1" lang="en-US" altLang="zh-CN" dirty="0" smtClean="0"/>
              <a:t>】</a:t>
            </a:r>
            <a:r>
              <a:rPr kumimoji="1" lang="zh-CN" altLang="en-US" dirty="0" smtClean="0"/>
              <a:t>可备注询单的价格执行情况</a:t>
            </a:r>
            <a:endParaRPr kumimoji="1" lang="en-US" altLang="zh-CN" dirty="0" smtClean="0"/>
          </a:p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 smtClean="0"/>
              <a:t>商机描述</a:t>
            </a:r>
            <a:r>
              <a:rPr kumimoji="1" lang="en-US" altLang="zh-CN" dirty="0" smtClean="0"/>
              <a:t>】</a:t>
            </a:r>
            <a:r>
              <a:rPr kumimoji="1" lang="zh-CN" altLang="en-US" dirty="0" smtClean="0"/>
              <a:t>可备注询单总价报备情况</a:t>
            </a:r>
            <a:endParaRPr kumimoji="1" lang="en-US" altLang="zh-CN" dirty="0" smtClean="0"/>
          </a:p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/>
              <a:t>采购订单号</a:t>
            </a:r>
            <a:r>
              <a:rPr kumimoji="1" lang="en-US" altLang="zh-CN" dirty="0"/>
              <a:t>】</a:t>
            </a:r>
            <a:r>
              <a:rPr kumimoji="1" lang="zh-CN" altLang="en-US" dirty="0"/>
              <a:t>客户的采购订单号，有则维护，没有则放空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类型</a:t>
            </a:r>
            <a:r>
              <a:rPr kumimoji="1" lang="en-US" altLang="zh-CN" dirty="0"/>
              <a:t>】</a:t>
            </a:r>
            <a:r>
              <a:rPr kumimoji="1" lang="zh-CN" altLang="en-US" dirty="0"/>
              <a:t>交期评审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报价有效期</a:t>
            </a:r>
            <a:r>
              <a:rPr kumimoji="1" lang="en-US" altLang="zh-CN" dirty="0"/>
              <a:t>】</a:t>
            </a:r>
            <a:r>
              <a:rPr kumimoji="1" lang="zh-CN" altLang="en-US" dirty="0"/>
              <a:t>默认一个月，如需延长或缩短，自行更改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要求装运日期</a:t>
            </a:r>
            <a:r>
              <a:rPr kumimoji="1" lang="en-US" altLang="zh-CN" dirty="0"/>
              <a:t>】</a:t>
            </a:r>
            <a:r>
              <a:rPr kumimoji="1" lang="zh-CN" altLang="en-US" dirty="0"/>
              <a:t>填写</a:t>
            </a:r>
            <a:r>
              <a:rPr kumimoji="1" lang="zh-CN" altLang="en-US" dirty="0" smtClean="0"/>
              <a:t>客户</a:t>
            </a:r>
            <a:r>
              <a:rPr kumimoji="1" lang="zh-CN" altLang="en-US" dirty="0"/>
              <a:t>真实</a:t>
            </a:r>
            <a:r>
              <a:rPr kumimoji="1" lang="zh-CN" altLang="en-US" dirty="0" smtClean="0"/>
              <a:t>需求的交货</a:t>
            </a:r>
            <a:r>
              <a:rPr kumimoji="1" lang="zh-CN" altLang="en-US" dirty="0"/>
              <a:t>日期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订单池</a:t>
            </a:r>
            <a:r>
              <a:rPr kumimoji="1" lang="en-US" altLang="zh-CN" dirty="0"/>
              <a:t>】</a:t>
            </a:r>
            <a:r>
              <a:rPr kumimoji="1" lang="zh-CN" altLang="en-US" dirty="0"/>
              <a:t>默认正常订单</a:t>
            </a:r>
            <a:r>
              <a:rPr kumimoji="1" lang="en-US" altLang="zh-CN" dirty="0"/>
              <a:t>-</a:t>
            </a:r>
            <a:r>
              <a:rPr kumimoji="1" lang="zh-CN" altLang="en-US" dirty="0"/>
              <a:t>直接交货，如有其他，自行更改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客户收货地址</a:t>
            </a:r>
            <a:r>
              <a:rPr kumimoji="1" lang="en-US" altLang="zh-CN" dirty="0"/>
              <a:t>】</a:t>
            </a:r>
            <a:r>
              <a:rPr kumimoji="1" lang="zh-CN" altLang="en-US" dirty="0"/>
              <a:t>空值，保存后是客户主档的默认收货地址</a:t>
            </a:r>
            <a:r>
              <a:rPr kumimoji="1" lang="zh-CN" altLang="en-US" dirty="0" smtClean="0"/>
              <a:t>，需要</a:t>
            </a:r>
            <a:r>
              <a:rPr kumimoji="1" lang="zh-CN" altLang="en-US" dirty="0"/>
              <a:t>选择其他收货地址，点击放大镜处，进行选择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保存</a:t>
            </a:r>
            <a:r>
              <a:rPr kumimoji="1" lang="en-US" altLang="zh-CN" dirty="0"/>
              <a:t>】</a:t>
            </a:r>
            <a:endParaRPr kumimoji="1" lang="en-US" altLang="zh-CN" dirty="0"/>
          </a:p>
          <a:p>
            <a:pPr indent="0"/>
            <a:r>
              <a:rPr kumimoji="1" lang="zh-CN" altLang="en-US" dirty="0"/>
              <a:t>备注：信息填写后，检查下所属套账信息（</a:t>
            </a:r>
            <a:r>
              <a:rPr kumimoji="1" lang="en-US" altLang="zh-CN" dirty="0" err="1"/>
              <a:t>gehc</a:t>
            </a:r>
            <a:r>
              <a:rPr kumimoji="1" lang="zh-CN" altLang="en-US" dirty="0"/>
              <a:t>），所属事业部（</a:t>
            </a:r>
            <a:r>
              <a:rPr kumimoji="1" lang="en-US" altLang="zh-CN" dirty="0"/>
              <a:t>25HJ</a:t>
            </a:r>
            <a:r>
              <a:rPr kumimoji="1" lang="zh-CN" altLang="en-US" dirty="0"/>
              <a:t>）信息对不对。</a:t>
            </a:r>
            <a:endParaRPr kumimoji="1" lang="zh-CN" altLang="en-US" dirty="0"/>
          </a:p>
          <a:p>
            <a:pPr indent="0"/>
            <a:r>
              <a:rPr kumimoji="1" lang="zh-CN" altLang="en-US" dirty="0"/>
              <a:t>如果信息填写有误，可以点击</a:t>
            </a:r>
            <a:r>
              <a:rPr kumimoji="1" lang="en-US" altLang="zh-CN" dirty="0"/>
              <a:t>【</a:t>
            </a:r>
            <a:r>
              <a:rPr kumimoji="1" lang="zh-CN" altLang="en-US" dirty="0"/>
              <a:t>编辑</a:t>
            </a:r>
            <a:r>
              <a:rPr kumimoji="1" lang="en-US" altLang="zh-CN" dirty="0"/>
              <a:t>】</a:t>
            </a:r>
            <a:r>
              <a:rPr kumimoji="1" lang="zh-CN" altLang="en-US" dirty="0"/>
              <a:t>进行更改，头部的客户采购订单号维护后，会全部带到行信息里的客户采购订单号。</a:t>
            </a:r>
            <a:endParaRPr kumimoji="1" lang="zh-CN" altLang="en-US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" y="1160604"/>
            <a:ext cx="5314104" cy="287514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" y="4131481"/>
            <a:ext cx="5314104" cy="18854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 smtClean="0"/>
              <a:t>01 </a:t>
            </a:r>
            <a:r>
              <a:rPr kumimoji="1" lang="zh-CN" altLang="en-US" dirty="0" smtClean="0"/>
              <a:t>交期评审</a:t>
            </a:r>
            <a:endParaRPr kumimoji="1" lang="en-US" altLang="zh-CN" dirty="0"/>
          </a:p>
        </p:txBody>
      </p:sp>
      <p:sp>
        <p:nvSpPr>
          <p:cNvPr id="25" name="文本占位符 3"/>
          <p:cNvSpPr txBox="1"/>
          <p:nvPr/>
        </p:nvSpPr>
        <p:spPr>
          <a:xfrm>
            <a:off x="6915908" y="1465271"/>
            <a:ext cx="4385893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/>
              <a:t>第三步：商机</a:t>
            </a:r>
            <a:r>
              <a:rPr lang="zh-CN" altLang="zh-CN" dirty="0" smtClean="0"/>
              <a:t>询</a:t>
            </a:r>
            <a:r>
              <a:rPr lang="zh-CN" altLang="zh-CN" dirty="0"/>
              <a:t>单行信息创建</a:t>
            </a:r>
            <a:endParaRPr kumimoji="1" lang="zh-CN" altLang="en-US" dirty="0"/>
          </a:p>
        </p:txBody>
      </p:sp>
      <p:sp>
        <p:nvSpPr>
          <p:cNvPr id="26" name="内容占位符 6"/>
          <p:cNvSpPr txBox="1"/>
          <p:nvPr/>
        </p:nvSpPr>
        <p:spPr>
          <a:xfrm>
            <a:off x="6649461" y="2146141"/>
            <a:ext cx="4652340" cy="2561340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400" b="0" i="0" kern="120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/>
              <a:t>合一询单信息（报价）</a:t>
            </a:r>
            <a:r>
              <a:rPr kumimoji="1" lang="en-US" altLang="zh-CN" dirty="0" smtClean="0"/>
              <a:t>—【</a:t>
            </a:r>
            <a:r>
              <a:rPr kumimoji="1" lang="zh-CN" altLang="en-US" dirty="0" smtClean="0"/>
              <a:t>新建</a:t>
            </a:r>
            <a:r>
              <a:rPr kumimoji="1" lang="en-US" altLang="zh-CN" dirty="0" smtClean="0"/>
              <a:t>】</a:t>
            </a:r>
            <a:endParaRPr kumimoji="1" lang="en-US" altLang="zh-CN" dirty="0" smtClean="0"/>
          </a:p>
          <a:p>
            <a:endParaRPr kumimoji="1" lang="en-US" altLang="zh-CN" dirty="0" smtClean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" y="1230868"/>
            <a:ext cx="6429334" cy="217175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6811"/>
            <a:ext cx="6430129" cy="26303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 smtClean="0"/>
              <a:t>01 </a:t>
            </a:r>
            <a:r>
              <a:rPr kumimoji="1" lang="zh-CN" altLang="en-US" dirty="0" smtClean="0"/>
              <a:t>交期评审</a:t>
            </a:r>
            <a:endParaRPr kumimoji="1" lang="en-US" altLang="zh-CN" dirty="0"/>
          </a:p>
        </p:txBody>
      </p:sp>
      <p:sp>
        <p:nvSpPr>
          <p:cNvPr id="25" name="文本占位符 3"/>
          <p:cNvSpPr txBox="1"/>
          <p:nvPr/>
        </p:nvSpPr>
        <p:spPr>
          <a:xfrm>
            <a:off x="4864623" y="1056040"/>
            <a:ext cx="4385893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dirty="0" smtClean="0"/>
              <a:t>询</a:t>
            </a:r>
            <a:r>
              <a:rPr lang="zh-CN" altLang="zh-CN" dirty="0"/>
              <a:t>单行信息</a:t>
            </a:r>
            <a:r>
              <a:rPr lang="zh-CN" altLang="zh-CN" dirty="0" smtClean="0"/>
              <a:t>创建</a:t>
            </a:r>
            <a:r>
              <a:rPr lang="zh-CN" altLang="en-US" dirty="0" smtClean="0"/>
              <a:t>方法一</a:t>
            </a:r>
            <a:endParaRPr kumimoji="1" lang="zh-CN" altLang="en-US" dirty="0"/>
          </a:p>
        </p:txBody>
      </p:sp>
      <p:sp>
        <p:nvSpPr>
          <p:cNvPr id="26" name="内容占位符 6"/>
          <p:cNvSpPr txBox="1"/>
          <p:nvPr/>
        </p:nvSpPr>
        <p:spPr>
          <a:xfrm>
            <a:off x="4598377" y="1441938"/>
            <a:ext cx="6840415" cy="4967899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400" b="0" i="0" kern="120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1650" indent="-285750">
              <a:buFont typeface="Wingdings" panose="05000000000000000000" pitchFamily="2" charset="2"/>
              <a:buChar char="u"/>
            </a:pPr>
            <a:r>
              <a:rPr kumimoji="1" lang="zh-CN" altLang="en-US" dirty="0" smtClean="0"/>
              <a:t>新建</a:t>
            </a:r>
            <a:r>
              <a:rPr kumimoji="1" lang="zh-CN" altLang="en-US" dirty="0"/>
              <a:t>，一行一行创建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物料编码</a:t>
            </a:r>
            <a:r>
              <a:rPr kumimoji="1" lang="en-US" altLang="zh-CN" dirty="0"/>
              <a:t>】</a:t>
            </a:r>
            <a:r>
              <a:rPr kumimoji="1" lang="zh-CN" altLang="en-US" dirty="0"/>
              <a:t>输入物料编码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产品变形表</a:t>
            </a:r>
            <a:r>
              <a:rPr kumimoji="1" lang="en-US" altLang="zh-CN" dirty="0"/>
              <a:t>】</a:t>
            </a:r>
            <a:r>
              <a:rPr kumimoji="1" lang="zh-CN" altLang="en-US" dirty="0"/>
              <a:t>点击放大镜，选择质量、公差组合符合需求的，如若搜索不到质量、公差，找产品评审员开通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数量</a:t>
            </a:r>
            <a:r>
              <a:rPr kumimoji="1" lang="en-US" altLang="zh-CN" dirty="0"/>
              <a:t>】</a:t>
            </a:r>
            <a:r>
              <a:rPr kumimoji="1" lang="zh-CN" altLang="en-US" dirty="0"/>
              <a:t>客户询单数量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是否拆单</a:t>
            </a:r>
            <a:r>
              <a:rPr kumimoji="1" lang="en-US" altLang="zh-CN" dirty="0"/>
              <a:t>】</a:t>
            </a:r>
            <a:r>
              <a:rPr kumimoji="1" lang="zh-CN" altLang="en-US" dirty="0"/>
              <a:t>默认</a:t>
            </a:r>
            <a:r>
              <a:rPr kumimoji="1" lang="zh-CN" altLang="en-US" dirty="0" smtClean="0"/>
              <a:t>“否”</a:t>
            </a:r>
            <a:r>
              <a:rPr kumimoji="1" lang="zh-CN" altLang="en-US" dirty="0"/>
              <a:t>，</a:t>
            </a:r>
            <a:r>
              <a:rPr kumimoji="1" lang="zh-CN" altLang="en-US" dirty="0" smtClean="0"/>
              <a:t>如果需拆</a:t>
            </a:r>
            <a:r>
              <a:rPr kumimoji="1" lang="zh-CN" altLang="en-US" dirty="0"/>
              <a:t>单则自行改为</a:t>
            </a:r>
            <a:r>
              <a:rPr kumimoji="1" lang="zh-CN" altLang="en-US" dirty="0" smtClean="0"/>
              <a:t>“是”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要求装运日期</a:t>
            </a:r>
            <a:r>
              <a:rPr kumimoji="1" lang="en-US" altLang="zh-CN" dirty="0"/>
              <a:t>】</a:t>
            </a:r>
            <a:r>
              <a:rPr kumimoji="1" lang="zh-CN" altLang="en-US" dirty="0"/>
              <a:t>默认是带头部选择的信息，如果每一行的要求装运日期不同</a:t>
            </a:r>
            <a:r>
              <a:rPr kumimoji="1" lang="zh-CN" altLang="en-US" dirty="0" smtClean="0"/>
              <a:t>，则自行</a:t>
            </a:r>
            <a:r>
              <a:rPr kumimoji="1" lang="zh-CN" altLang="en-US" dirty="0"/>
              <a:t>修改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客户确认交期备注</a:t>
            </a:r>
            <a:r>
              <a:rPr kumimoji="1" lang="en-US" altLang="zh-CN" dirty="0"/>
              <a:t>】</a:t>
            </a:r>
            <a:r>
              <a:rPr kumimoji="1" lang="zh-CN" altLang="en-US" dirty="0"/>
              <a:t>如果客户期望的交期是急单的，如实填写要求装运日期，可在此处备注下重要程度等信息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是否急单</a:t>
            </a:r>
            <a:r>
              <a:rPr kumimoji="1" lang="en-US" altLang="zh-CN" dirty="0"/>
              <a:t>】</a:t>
            </a:r>
            <a:r>
              <a:rPr kumimoji="1" lang="zh-CN" altLang="en-US" dirty="0"/>
              <a:t>默认“否”，如果是急单，那么就更改为</a:t>
            </a:r>
            <a:r>
              <a:rPr kumimoji="1" lang="zh-CN" altLang="en-US" dirty="0" smtClean="0"/>
              <a:t>“是”，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保存并新建</a:t>
            </a:r>
            <a:r>
              <a:rPr kumimoji="1" lang="en-US" altLang="zh-CN" dirty="0"/>
              <a:t>】</a:t>
            </a:r>
            <a:r>
              <a:rPr kumimoji="1" lang="zh-CN" altLang="en-US" dirty="0"/>
              <a:t>如果询单是多行的话，那么点击保存并新建，就可以继续新建规格，重复操作；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保存</a:t>
            </a:r>
            <a:r>
              <a:rPr kumimoji="1" lang="en-US" altLang="zh-CN" dirty="0"/>
              <a:t>】</a:t>
            </a:r>
            <a:r>
              <a:rPr kumimoji="1" lang="zh-CN" altLang="en-US" dirty="0"/>
              <a:t>询单已经是最后一行，不需要再新建，那么就点保存</a:t>
            </a:r>
            <a:r>
              <a:rPr kumimoji="1" lang="zh-CN" altLang="en-US" dirty="0" smtClean="0"/>
              <a:t>。</a:t>
            </a:r>
            <a:endParaRPr kumimoji="1" lang="en-US" altLang="zh-CN" dirty="0" smtClean="0"/>
          </a:p>
          <a:p>
            <a:pPr indent="0"/>
            <a:r>
              <a:rPr kumimoji="1" lang="zh-CN" altLang="en-US" dirty="0" smtClean="0"/>
              <a:t>备注：第一次点交期计算，若系统测算出的交期未能满足客户需求，那么是否急单，勾选急单，再点一次交期计算，系统会重新按照急单计算交期，如有变化，则有条件改型，若交期未有变化，则</a:t>
            </a:r>
            <a:r>
              <a:rPr lang="en-US" altLang="zh-CN" dirty="0"/>
              <a:t>【</a:t>
            </a:r>
            <a:r>
              <a:rPr lang="zh-CN" altLang="en-US" dirty="0"/>
              <a:t>生管交期备注</a:t>
            </a:r>
            <a:r>
              <a:rPr lang="en-US" altLang="zh-CN" dirty="0"/>
              <a:t>】</a:t>
            </a:r>
            <a:r>
              <a:rPr lang="zh-CN" altLang="en-US" dirty="0"/>
              <a:t>字段自动提示“标准原料供应周期</a:t>
            </a:r>
            <a:r>
              <a:rPr lang="zh-CN" altLang="en-US" dirty="0" smtClean="0"/>
              <a:t>”</a:t>
            </a:r>
            <a:endParaRPr lang="en-US" altLang="zh-CN" dirty="0" smtClean="0"/>
          </a:p>
          <a:p>
            <a:pPr indent="0"/>
            <a:r>
              <a:rPr kumimoji="1" lang="zh-CN" altLang="en-US" b="1" dirty="0"/>
              <a:t>非标急单</a:t>
            </a:r>
            <a:r>
              <a:rPr kumimoji="1" lang="zh-CN" altLang="en-US" dirty="0"/>
              <a:t>，</a:t>
            </a:r>
            <a:r>
              <a:rPr kumimoji="1" lang="en-US" altLang="zh-CN" dirty="0"/>
              <a:t>【</a:t>
            </a:r>
            <a:r>
              <a:rPr kumimoji="1" lang="zh-CN" altLang="en-US" dirty="0"/>
              <a:t>客户要求装运日期</a:t>
            </a:r>
            <a:r>
              <a:rPr kumimoji="1" lang="en-US" altLang="zh-CN" dirty="0"/>
              <a:t>】</a:t>
            </a:r>
            <a:r>
              <a:rPr kumimoji="1" lang="zh-CN" altLang="en-US" dirty="0"/>
              <a:t>填写真实交期并在</a:t>
            </a:r>
            <a:r>
              <a:rPr lang="en-US" altLang="zh-CN" dirty="0"/>
              <a:t>【</a:t>
            </a:r>
            <a:r>
              <a:rPr lang="zh-CN" altLang="en-US" dirty="0"/>
              <a:t>客户期望交期备注</a:t>
            </a:r>
            <a:r>
              <a:rPr lang="en-US" altLang="zh-CN" dirty="0"/>
              <a:t>】</a:t>
            </a:r>
            <a:r>
              <a:rPr lang="zh-CN" altLang="en-US" dirty="0"/>
              <a:t>字段备注：客户真实需求交期，对应产线生管看到后，会根据所填写的内容一起评估。</a:t>
            </a:r>
            <a:endParaRPr kumimoji="1" lang="zh-CN" altLang="en-US" dirty="0"/>
          </a:p>
          <a:p>
            <a:pPr indent="0"/>
            <a:endParaRPr kumimoji="1" lang="zh-CN" altLang="en-US" dirty="0"/>
          </a:p>
          <a:p>
            <a:endParaRPr kumimoji="1" lang="en-US" altLang="zh-CN" dirty="0" smtClean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" y="1064868"/>
            <a:ext cx="4419411" cy="247948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64516"/>
            <a:ext cx="4669941" cy="27453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 smtClean="0"/>
              <a:t>01 </a:t>
            </a:r>
            <a:r>
              <a:rPr kumimoji="1" lang="zh-CN" altLang="en-US" dirty="0" smtClean="0"/>
              <a:t>交期评审</a:t>
            </a:r>
            <a:endParaRPr kumimoji="1" lang="en-US" altLang="zh-CN" dirty="0"/>
          </a:p>
        </p:txBody>
      </p:sp>
      <p:sp>
        <p:nvSpPr>
          <p:cNvPr id="25" name="文本占位符 3"/>
          <p:cNvSpPr txBox="1"/>
          <p:nvPr/>
        </p:nvSpPr>
        <p:spPr>
          <a:xfrm>
            <a:off x="6420861" y="1142964"/>
            <a:ext cx="4385893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dirty="0" smtClean="0"/>
              <a:t>询</a:t>
            </a:r>
            <a:r>
              <a:rPr lang="zh-CN" altLang="zh-CN" dirty="0"/>
              <a:t>单行信息</a:t>
            </a:r>
            <a:r>
              <a:rPr lang="zh-CN" altLang="zh-CN" dirty="0" smtClean="0"/>
              <a:t>创建</a:t>
            </a:r>
            <a:r>
              <a:rPr lang="zh-CN" altLang="en-US" dirty="0" smtClean="0"/>
              <a:t>方法二</a:t>
            </a:r>
            <a:endParaRPr kumimoji="1" lang="zh-CN" altLang="en-US" dirty="0"/>
          </a:p>
        </p:txBody>
      </p:sp>
      <p:sp>
        <p:nvSpPr>
          <p:cNvPr id="26" name="内容占位符 6"/>
          <p:cNvSpPr txBox="1"/>
          <p:nvPr/>
        </p:nvSpPr>
        <p:spPr>
          <a:xfrm>
            <a:off x="5689905" y="1652954"/>
            <a:ext cx="5413946" cy="4827221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400" b="0" i="0" kern="120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1650" indent="-285750">
              <a:buFont typeface="Wingdings" panose="05000000000000000000" pitchFamily="2" charset="2"/>
              <a:buChar char="u"/>
            </a:pPr>
            <a:r>
              <a:rPr lang="zh-CN" altLang="zh-CN" dirty="0"/>
              <a:t>贸易协议生成（前提是该家客户有做贸易协议</a:t>
            </a:r>
            <a:r>
              <a:rPr lang="zh-CN" altLang="zh-CN" dirty="0" smtClean="0"/>
              <a:t>）</a:t>
            </a:r>
            <a:endParaRPr lang="en-US" altLang="zh-CN" dirty="0" smtClean="0"/>
          </a:p>
          <a:p>
            <a:pPr indent="0"/>
            <a:r>
              <a:rPr kumimoji="1" lang="zh-CN" altLang="en-US" dirty="0" smtClean="0"/>
              <a:t>点击</a:t>
            </a:r>
            <a:r>
              <a:rPr kumimoji="1" lang="en-US" altLang="zh-CN" dirty="0"/>
              <a:t>【</a:t>
            </a:r>
            <a:r>
              <a:rPr kumimoji="1" lang="zh-CN" altLang="en-US" dirty="0"/>
              <a:t>贸易协议生成</a:t>
            </a:r>
            <a:r>
              <a:rPr kumimoji="1" lang="en-US" altLang="zh-CN" dirty="0"/>
              <a:t>】</a:t>
            </a:r>
            <a:r>
              <a:rPr kumimoji="1" lang="zh-CN" altLang="en-US" dirty="0"/>
              <a:t>弹出该家客户有做过贸易协议且在有效期内的明细，根据询单进行选择规格，数量填写，全部勾选完后，点击保存，生成询单</a:t>
            </a:r>
            <a:r>
              <a:rPr kumimoji="1" lang="zh-CN" altLang="en-US" dirty="0" smtClean="0"/>
              <a:t>明细</a:t>
            </a:r>
            <a:endParaRPr kumimoji="1" lang="zh-CN" altLang="en-US" dirty="0"/>
          </a:p>
          <a:p>
            <a:endParaRPr kumimoji="1" lang="en-US" altLang="zh-CN" dirty="0" smtClean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" y="1064868"/>
            <a:ext cx="5603934" cy="210316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" y="3358531"/>
            <a:ext cx="5604728" cy="25793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 smtClean="0"/>
              <a:t>01 </a:t>
            </a:r>
            <a:r>
              <a:rPr kumimoji="1" lang="zh-CN" altLang="en-US" dirty="0" smtClean="0"/>
              <a:t>交期评审</a:t>
            </a:r>
            <a:endParaRPr kumimoji="1" lang="en-US" altLang="zh-CN" dirty="0"/>
          </a:p>
        </p:txBody>
      </p:sp>
      <p:sp>
        <p:nvSpPr>
          <p:cNvPr id="25" name="文本占位符 3"/>
          <p:cNvSpPr txBox="1"/>
          <p:nvPr/>
        </p:nvSpPr>
        <p:spPr>
          <a:xfrm>
            <a:off x="714604" y="1183529"/>
            <a:ext cx="4385893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dirty="0" smtClean="0"/>
              <a:t>询</a:t>
            </a:r>
            <a:r>
              <a:rPr lang="zh-CN" altLang="zh-CN" dirty="0"/>
              <a:t>单行信息</a:t>
            </a:r>
            <a:r>
              <a:rPr lang="zh-CN" altLang="zh-CN" dirty="0" smtClean="0"/>
              <a:t>创建</a:t>
            </a:r>
            <a:r>
              <a:rPr lang="zh-CN" altLang="en-US" dirty="0" smtClean="0"/>
              <a:t>方法三</a:t>
            </a:r>
            <a:endParaRPr kumimoji="1" lang="zh-CN" altLang="en-US" dirty="0"/>
          </a:p>
        </p:txBody>
      </p:sp>
      <p:sp>
        <p:nvSpPr>
          <p:cNvPr id="26" name="内容占位符 6"/>
          <p:cNvSpPr txBox="1"/>
          <p:nvPr/>
        </p:nvSpPr>
        <p:spPr>
          <a:xfrm>
            <a:off x="562708" y="2101500"/>
            <a:ext cx="10127544" cy="4537075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400" b="0" i="0" kern="120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1650" indent="-285750">
              <a:buFont typeface="Wingdings" panose="05000000000000000000" pitchFamily="2" charset="2"/>
              <a:buChar char="u"/>
            </a:pPr>
            <a:r>
              <a:rPr lang="zh-CN" altLang="zh-CN" dirty="0"/>
              <a:t>批量导</a:t>
            </a:r>
            <a:r>
              <a:rPr lang="zh-CN" altLang="zh-CN" dirty="0" smtClean="0"/>
              <a:t>入</a:t>
            </a:r>
            <a:endParaRPr lang="en-US" altLang="zh-CN" dirty="0" smtClean="0"/>
          </a:p>
          <a:p>
            <a:pPr indent="0"/>
            <a:r>
              <a:rPr kumimoji="1" lang="zh-CN" altLang="en-US" dirty="0"/>
              <a:t>点击批量导入，下载模版，按照模板要求填写内容，然后选择文件，点击上传</a:t>
            </a:r>
            <a:endParaRPr kumimoji="1" lang="en-US" altLang="zh-CN" dirty="0" smtClean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326" y="3099536"/>
            <a:ext cx="8035557" cy="27153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 smtClean="0"/>
              <a:t>01 </a:t>
            </a:r>
            <a:r>
              <a:rPr kumimoji="1" lang="zh-CN" altLang="en-US" dirty="0" smtClean="0"/>
              <a:t>交期评审</a:t>
            </a:r>
            <a:endParaRPr kumimoji="1" lang="en-US" altLang="zh-CN" dirty="0"/>
          </a:p>
        </p:txBody>
      </p:sp>
      <p:sp>
        <p:nvSpPr>
          <p:cNvPr id="25" name="文本占位符 3"/>
          <p:cNvSpPr txBox="1"/>
          <p:nvPr/>
        </p:nvSpPr>
        <p:spPr>
          <a:xfrm>
            <a:off x="6915908" y="1465271"/>
            <a:ext cx="4385893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/>
              <a:t>第四步：</a:t>
            </a:r>
            <a:r>
              <a:rPr lang="zh-CN" altLang="zh-CN" dirty="0"/>
              <a:t>价格、交期计算</a:t>
            </a:r>
            <a:endParaRPr kumimoji="1" lang="zh-CN" altLang="en-US" dirty="0"/>
          </a:p>
        </p:txBody>
      </p:sp>
      <p:sp>
        <p:nvSpPr>
          <p:cNvPr id="26" name="内容占位符 6"/>
          <p:cNvSpPr txBox="1"/>
          <p:nvPr/>
        </p:nvSpPr>
        <p:spPr>
          <a:xfrm>
            <a:off x="6737384" y="2058218"/>
            <a:ext cx="4652340" cy="2561340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400" b="0" i="0" kern="120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/>
            <a:r>
              <a:rPr lang="zh-CN" altLang="zh-CN" dirty="0" smtClean="0"/>
              <a:t>【合一价格计算】</a:t>
            </a:r>
            <a:r>
              <a:rPr lang="zh-CN" altLang="en-US" dirty="0" smtClean="0"/>
              <a:t>无特殊折扣价格</a:t>
            </a:r>
            <a:r>
              <a:rPr lang="zh-CN" altLang="zh-CN" dirty="0" smtClean="0"/>
              <a:t>，</a:t>
            </a:r>
            <a:r>
              <a:rPr lang="zh-CN" altLang="zh-CN" dirty="0"/>
              <a:t>价格</a:t>
            </a:r>
            <a:r>
              <a:rPr lang="zh-CN" altLang="zh-CN" dirty="0" smtClean="0"/>
              <a:t>会</a:t>
            </a:r>
            <a:r>
              <a:rPr lang="zh-CN" altLang="en-US" dirty="0" smtClean="0"/>
              <a:t>自动测</a:t>
            </a:r>
            <a:r>
              <a:rPr lang="zh-CN" altLang="zh-CN" dirty="0" smtClean="0"/>
              <a:t>算；</a:t>
            </a:r>
            <a:endParaRPr lang="zh-CN" altLang="zh-CN" dirty="0"/>
          </a:p>
          <a:p>
            <a:pPr indent="0"/>
            <a:r>
              <a:rPr lang="zh-CN" altLang="zh-CN" dirty="0" smtClean="0"/>
              <a:t>【合一交期计算】</a:t>
            </a:r>
            <a:r>
              <a:rPr lang="zh-CN" altLang="en-US" dirty="0" smtClean="0"/>
              <a:t>点击交期计算，</a:t>
            </a:r>
            <a:r>
              <a:rPr lang="zh-CN" altLang="zh-CN" dirty="0" smtClean="0"/>
              <a:t>如果</a:t>
            </a:r>
            <a:r>
              <a:rPr lang="zh-CN" altLang="zh-CN" dirty="0"/>
              <a:t>生管部确认交期有值，那么交</a:t>
            </a:r>
            <a:r>
              <a:rPr lang="zh-CN" altLang="zh-CN" dirty="0" smtClean="0"/>
              <a:t>期测算</a:t>
            </a:r>
            <a:r>
              <a:rPr lang="zh-CN" altLang="en-US" dirty="0" smtClean="0"/>
              <a:t>成功；</a:t>
            </a:r>
            <a:r>
              <a:rPr lang="zh-CN" altLang="zh-CN" dirty="0" smtClean="0"/>
              <a:t>如果</a:t>
            </a:r>
            <a:r>
              <a:rPr lang="zh-CN" altLang="zh-CN" dirty="0"/>
              <a:t>空值，那么就需要生管介入评估交期，提交后，会生成报价单号（日记账号），流程会到达生管处，提交后，可在【</a:t>
            </a:r>
            <a:r>
              <a:rPr lang="en-US" altLang="zh-CN" dirty="0"/>
              <a:t>ERP</a:t>
            </a:r>
            <a:r>
              <a:rPr lang="zh-CN" altLang="zh-CN" dirty="0"/>
              <a:t>报价单审批流程查看】查看流程；</a:t>
            </a:r>
            <a:endParaRPr lang="zh-CN" altLang="zh-CN" dirty="0"/>
          </a:p>
          <a:p>
            <a:pPr indent="0"/>
            <a:r>
              <a:rPr lang="zh-CN" altLang="zh-CN" dirty="0"/>
              <a:t>【提交待审批】检查无误后提交审批</a:t>
            </a:r>
            <a:endParaRPr lang="zh-CN" altLang="zh-CN" dirty="0"/>
          </a:p>
          <a:p>
            <a:endParaRPr kumimoji="1" lang="en-US" altLang="zh-CN" dirty="0" smtClean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" y="1973454"/>
            <a:ext cx="6937859" cy="19742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 smtClean="0"/>
              <a:t>01 </a:t>
            </a:r>
            <a:r>
              <a:rPr kumimoji="1" lang="zh-CN" altLang="en-US" dirty="0" smtClean="0"/>
              <a:t>交期评审</a:t>
            </a:r>
            <a:endParaRPr kumimoji="1" lang="en-US" altLang="zh-CN" dirty="0"/>
          </a:p>
        </p:txBody>
      </p:sp>
      <p:sp>
        <p:nvSpPr>
          <p:cNvPr id="25" name="文本占位符 3"/>
          <p:cNvSpPr txBox="1"/>
          <p:nvPr/>
        </p:nvSpPr>
        <p:spPr>
          <a:xfrm>
            <a:off x="6938653" y="1200073"/>
            <a:ext cx="4385893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/>
              <a:t>第五步：</a:t>
            </a:r>
            <a:r>
              <a:rPr lang="zh-CN" altLang="zh-CN" dirty="0"/>
              <a:t>转单操作</a:t>
            </a:r>
            <a:endParaRPr kumimoji="1" lang="zh-CN" altLang="en-US" dirty="0"/>
          </a:p>
        </p:txBody>
      </p:sp>
      <p:sp>
        <p:nvSpPr>
          <p:cNvPr id="26" name="内容占位符 6"/>
          <p:cNvSpPr txBox="1"/>
          <p:nvPr/>
        </p:nvSpPr>
        <p:spPr>
          <a:xfrm>
            <a:off x="6304085" y="1654366"/>
            <a:ext cx="5085639" cy="4800245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400" b="0" i="0" kern="120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/>
            <a:r>
              <a:rPr lang="zh-CN" altLang="en-US" dirty="0" smtClean="0"/>
              <a:t>①批量编辑：点击</a:t>
            </a:r>
            <a:r>
              <a:rPr lang="zh-CN" altLang="en-US" dirty="0"/>
              <a:t>批量编辑，进入行明细编辑界面</a:t>
            </a:r>
            <a:endParaRPr lang="zh-CN" altLang="en-US" dirty="0"/>
          </a:p>
          <a:p>
            <a:pPr indent="0"/>
            <a:r>
              <a:rPr lang="en-US" altLang="zh-CN" dirty="0"/>
              <a:t>【</a:t>
            </a:r>
            <a:r>
              <a:rPr lang="zh-CN" altLang="en-US" dirty="0"/>
              <a:t>是否转单</a:t>
            </a:r>
            <a:r>
              <a:rPr lang="en-US" altLang="zh-CN" dirty="0"/>
              <a:t>】</a:t>
            </a:r>
            <a:r>
              <a:rPr lang="zh-CN" altLang="en-US" dirty="0"/>
              <a:t>需要转单选择“是”，</a:t>
            </a:r>
            <a:r>
              <a:rPr lang="zh-CN" altLang="en-US" dirty="0" smtClean="0"/>
              <a:t>不同意转</a:t>
            </a:r>
            <a:r>
              <a:rPr lang="zh-CN" altLang="en-US" dirty="0"/>
              <a:t>单，选择“否”，一旦选择“否”，那么</a:t>
            </a:r>
            <a:r>
              <a:rPr lang="en-US" altLang="zh-CN" dirty="0"/>
              <a:t>【</a:t>
            </a:r>
            <a:r>
              <a:rPr lang="zh-CN" altLang="en-US" dirty="0"/>
              <a:t>不同意转单原因</a:t>
            </a:r>
            <a:r>
              <a:rPr lang="en-US" altLang="zh-CN" dirty="0"/>
              <a:t>】</a:t>
            </a:r>
            <a:r>
              <a:rPr lang="zh-CN" altLang="en-US" dirty="0"/>
              <a:t>则为必填项；备注：多行操作的时候，可以选择每行，在选择字段、更新内容处填写，填写后，批量更新后点保存，则为编辑成功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indent="0"/>
            <a:r>
              <a:rPr lang="en-US" altLang="zh-CN" dirty="0" smtClean="0"/>
              <a:t>【</a:t>
            </a:r>
            <a:r>
              <a:rPr lang="zh-CN" altLang="en-US" dirty="0" smtClean="0"/>
              <a:t>数量</a:t>
            </a:r>
            <a:r>
              <a:rPr lang="en-US" altLang="zh-CN" dirty="0" smtClean="0"/>
              <a:t>】</a:t>
            </a:r>
            <a:r>
              <a:rPr lang="zh-CN" altLang="en-US" dirty="0" smtClean="0"/>
              <a:t>客户询单数量</a:t>
            </a:r>
            <a:endParaRPr lang="zh-CN" altLang="en-US" dirty="0"/>
          </a:p>
          <a:p>
            <a:pPr indent="0"/>
            <a:r>
              <a:rPr lang="en-US" altLang="zh-CN" dirty="0" smtClean="0"/>
              <a:t>【</a:t>
            </a:r>
            <a:r>
              <a:rPr lang="zh-CN" altLang="en-US" dirty="0" smtClean="0"/>
              <a:t>订单数量</a:t>
            </a:r>
            <a:r>
              <a:rPr lang="en-US" altLang="zh-CN" dirty="0" smtClean="0"/>
              <a:t>】</a:t>
            </a:r>
            <a:r>
              <a:rPr lang="zh-CN" altLang="en-US" dirty="0"/>
              <a:t>最终转销售订单数量也就是成交数量</a:t>
            </a:r>
            <a:endParaRPr lang="en-US" altLang="zh-CN" dirty="0" smtClean="0"/>
          </a:p>
          <a:p>
            <a:pPr indent="0"/>
            <a:r>
              <a:rPr lang="en-US" altLang="zh-CN" dirty="0" smtClean="0"/>
              <a:t>【</a:t>
            </a:r>
            <a:r>
              <a:rPr lang="zh-CN" altLang="en-US" dirty="0" smtClean="0"/>
              <a:t>是否急单</a:t>
            </a:r>
            <a:r>
              <a:rPr lang="en-US" altLang="zh-CN" dirty="0" smtClean="0"/>
              <a:t>】</a:t>
            </a:r>
            <a:r>
              <a:rPr lang="zh-CN" altLang="en-US" dirty="0" smtClean="0"/>
              <a:t>如果刚开始下询单时候，未能勾选急单，测算交期后未能满足客户需求，可在批量编辑处，将是否急单填写是，再重新计算一次交期</a:t>
            </a:r>
            <a:endParaRPr lang="en-US" altLang="zh-CN" dirty="0"/>
          </a:p>
          <a:p>
            <a:pPr indent="0"/>
            <a:r>
              <a:rPr lang="zh-CN" altLang="en-US" dirty="0" smtClean="0"/>
              <a:t>备注</a:t>
            </a:r>
            <a:r>
              <a:rPr lang="zh-CN" altLang="en-US" dirty="0"/>
              <a:t>：批量编辑处，可以编辑实际</a:t>
            </a:r>
            <a:r>
              <a:rPr lang="zh-CN" altLang="en-US" dirty="0" smtClean="0"/>
              <a:t>价格、</a:t>
            </a:r>
            <a:r>
              <a:rPr lang="zh-CN" altLang="en-US" dirty="0"/>
              <a:t>要求装运日期、是否转单、不同意转单原因、客户采购单号维护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indent="0"/>
            <a:r>
              <a:rPr lang="zh-CN" altLang="en-US" dirty="0"/>
              <a:t>保存成功后，选择</a:t>
            </a:r>
            <a:r>
              <a:rPr lang="en-US" altLang="zh-CN" dirty="0"/>
              <a:t>【</a:t>
            </a:r>
            <a:r>
              <a:rPr lang="zh-CN" altLang="en-US" dirty="0"/>
              <a:t>合一商机转订单</a:t>
            </a:r>
            <a:r>
              <a:rPr lang="en-US" altLang="zh-CN" dirty="0"/>
              <a:t>】</a:t>
            </a:r>
            <a:endParaRPr lang="en-US" altLang="zh-CN" dirty="0"/>
          </a:p>
          <a:p>
            <a:pPr indent="0"/>
            <a:endParaRPr lang="zh-CN" altLang="en-US" dirty="0"/>
          </a:p>
          <a:p>
            <a:endParaRPr kumimoji="1" lang="en-US" altLang="zh-CN" dirty="0" smtClean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" y="3204559"/>
            <a:ext cx="6006468" cy="24580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" y="1139366"/>
            <a:ext cx="6217097" cy="19906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 smtClean="0"/>
              <a:t>01 </a:t>
            </a:r>
            <a:r>
              <a:rPr kumimoji="1" lang="zh-CN" altLang="en-US" dirty="0" smtClean="0"/>
              <a:t>交期评审</a:t>
            </a:r>
            <a:endParaRPr kumimoji="1" lang="en-US" altLang="zh-CN" dirty="0"/>
          </a:p>
        </p:txBody>
      </p:sp>
      <p:sp>
        <p:nvSpPr>
          <p:cNvPr id="25" name="文本占位符 3"/>
          <p:cNvSpPr txBox="1"/>
          <p:nvPr/>
        </p:nvSpPr>
        <p:spPr>
          <a:xfrm>
            <a:off x="6938653" y="1200073"/>
            <a:ext cx="4385893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/>
              <a:t>第五步：</a:t>
            </a:r>
            <a:r>
              <a:rPr lang="zh-CN" altLang="zh-CN" dirty="0"/>
              <a:t>转单操作</a:t>
            </a:r>
            <a:endParaRPr kumimoji="1" lang="zh-CN" altLang="en-US" dirty="0"/>
          </a:p>
        </p:txBody>
      </p:sp>
      <p:sp>
        <p:nvSpPr>
          <p:cNvPr id="26" name="内容占位符 6"/>
          <p:cNvSpPr txBox="1"/>
          <p:nvPr/>
        </p:nvSpPr>
        <p:spPr>
          <a:xfrm>
            <a:off x="6304085" y="1654366"/>
            <a:ext cx="5085639" cy="4800245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400" b="0" i="0" kern="120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/>
            <a:r>
              <a:rPr lang="zh-CN" altLang="en-US" dirty="0" smtClean="0"/>
              <a:t>②合一</a:t>
            </a:r>
            <a:r>
              <a:rPr lang="zh-CN" altLang="en-US" dirty="0"/>
              <a:t>商机转</a:t>
            </a:r>
            <a:r>
              <a:rPr lang="zh-CN" altLang="en-US" dirty="0" smtClean="0"/>
              <a:t>订单</a:t>
            </a:r>
            <a:endParaRPr lang="en-US" altLang="zh-CN" dirty="0"/>
          </a:p>
          <a:p>
            <a:pPr indent="0"/>
            <a:r>
              <a:rPr lang="en-US" altLang="zh-CN" dirty="0"/>
              <a:t>【</a:t>
            </a:r>
            <a:r>
              <a:rPr lang="zh-CN" altLang="en-US" dirty="0"/>
              <a:t>是否生成新订单</a:t>
            </a:r>
            <a:r>
              <a:rPr lang="en-US" altLang="zh-CN" dirty="0"/>
              <a:t>】</a:t>
            </a:r>
            <a:r>
              <a:rPr lang="zh-CN" altLang="en-US" dirty="0"/>
              <a:t>：如果商机里所有的行，要生成多个订单，那么选择“是”，反之选择“否”；</a:t>
            </a:r>
            <a:endParaRPr lang="zh-CN" altLang="en-US" dirty="0"/>
          </a:p>
          <a:p>
            <a:pPr indent="0"/>
            <a:r>
              <a:rPr lang="en-US" altLang="zh-CN" dirty="0"/>
              <a:t>【</a:t>
            </a:r>
            <a:r>
              <a:rPr lang="zh-CN" altLang="en-US" dirty="0"/>
              <a:t>是否生成贸易协议</a:t>
            </a:r>
            <a:r>
              <a:rPr lang="en-US" altLang="zh-CN" dirty="0"/>
              <a:t>】</a:t>
            </a:r>
            <a:r>
              <a:rPr lang="zh-CN" altLang="en-US" dirty="0"/>
              <a:t>如果该询单规格，价格均不是牌价，可以选择“是”那么</a:t>
            </a:r>
            <a:r>
              <a:rPr lang="zh-CN" altLang="en-US" dirty="0" smtClean="0"/>
              <a:t>下次询单下同</a:t>
            </a:r>
            <a:r>
              <a:rPr lang="zh-CN" altLang="en-US" dirty="0"/>
              <a:t>个规格，在有效期内就能自动审批价格了；</a:t>
            </a:r>
            <a:endParaRPr lang="zh-CN" altLang="en-US" dirty="0"/>
          </a:p>
          <a:p>
            <a:pPr indent="0"/>
            <a:r>
              <a:rPr lang="en-US" altLang="zh-CN" dirty="0"/>
              <a:t>【</a:t>
            </a:r>
            <a:r>
              <a:rPr lang="zh-CN" altLang="en-US" dirty="0"/>
              <a:t>是否关闭询单</a:t>
            </a:r>
            <a:r>
              <a:rPr lang="en-US" altLang="zh-CN" dirty="0"/>
              <a:t>】</a:t>
            </a:r>
            <a:r>
              <a:rPr lang="zh-CN" altLang="en-US" dirty="0"/>
              <a:t>默认是“否”，但是如果整个询单都处理完毕，则改为“是”，反之则“否”；</a:t>
            </a:r>
            <a:endParaRPr lang="zh-CN" altLang="en-US" dirty="0"/>
          </a:p>
          <a:p>
            <a:pPr indent="0"/>
            <a:r>
              <a:rPr lang="en-US" altLang="zh-CN" dirty="0"/>
              <a:t>【</a:t>
            </a:r>
            <a:r>
              <a:rPr lang="zh-CN" altLang="en-US" dirty="0"/>
              <a:t>确定</a:t>
            </a:r>
            <a:r>
              <a:rPr lang="en-US" altLang="zh-CN" dirty="0"/>
              <a:t>】</a:t>
            </a:r>
            <a:r>
              <a:rPr lang="zh-CN" altLang="en-US" dirty="0"/>
              <a:t>点击确定后，则自动生成销售订单。</a:t>
            </a:r>
            <a:endParaRPr lang="zh-CN" altLang="en-US" dirty="0"/>
          </a:p>
          <a:p>
            <a:pPr indent="0"/>
            <a:r>
              <a:rPr lang="zh-CN" altLang="en-US" dirty="0" smtClean="0"/>
              <a:t>特别注意：商机转订单，确定按钮，只能点一次，若是因为网络原因</a:t>
            </a:r>
            <a:r>
              <a:rPr lang="en-US" altLang="zh-CN" dirty="0" smtClean="0"/>
              <a:t>/</a:t>
            </a:r>
            <a:r>
              <a:rPr lang="zh-CN" altLang="en-US" dirty="0" smtClean="0"/>
              <a:t>系统原因迟迟未能转成功，不要再次点确定，直接关闭界面刷新确认是否转成功，未成功再重新转。</a:t>
            </a:r>
            <a:endParaRPr lang="zh-CN" altLang="en-US" dirty="0"/>
          </a:p>
          <a:p>
            <a:endParaRPr kumimoji="1" lang="en-US" altLang="zh-CN" dirty="0" smtClean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" y="2063793"/>
            <a:ext cx="6341341" cy="24554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alphaModFix amt="85000"/>
          </a:blip>
          <a:srcRect t="1963" b="23722"/>
          <a:stretch>
            <a:fillRect/>
          </a:stretch>
        </p:blipFill>
        <p:spPr>
          <a:xfrm>
            <a:off x="0" y="1657818"/>
            <a:ext cx="11520488" cy="482235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588" y="1657818"/>
            <a:ext cx="11518900" cy="4822357"/>
          </a:xfrm>
          <a:prstGeom prst="rect">
            <a:avLst/>
          </a:prstGeom>
          <a:solidFill>
            <a:srgbClr val="0B67E4">
              <a:alpha val="6206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        </a:t>
            </a:r>
            <a:endParaRPr kumimoji="1" lang="zh-CN" altLang="en-US" dirty="0"/>
          </a:p>
        </p:txBody>
      </p:sp>
      <p:sp>
        <p:nvSpPr>
          <p:cNvPr id="7" name="文本占位符 12"/>
          <p:cNvSpPr txBox="1"/>
          <p:nvPr/>
        </p:nvSpPr>
        <p:spPr>
          <a:xfrm>
            <a:off x="2367602" y="3328920"/>
            <a:ext cx="5598152" cy="61218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4000" b="0" i="0" kern="120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/>
              <a:t>标准技术评审</a:t>
            </a:r>
            <a:endParaRPr kumimoji="1" lang="zh-CN" altLang="en-US" dirty="0"/>
          </a:p>
        </p:txBody>
      </p:sp>
      <p:sp>
        <p:nvSpPr>
          <p:cNvPr id="8" name="文本占位符 12"/>
          <p:cNvSpPr txBox="1"/>
          <p:nvPr/>
        </p:nvSpPr>
        <p:spPr>
          <a:xfrm>
            <a:off x="2367602" y="3686176"/>
            <a:ext cx="4556816" cy="48150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sz="2400" b="0" i="0" kern="1200">
                <a:solidFill>
                  <a:schemeClr val="bg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kumimoji="1" lang="zh-CN" altLang="en-US" dirty="0"/>
          </a:p>
        </p:txBody>
      </p:sp>
      <p:sp>
        <p:nvSpPr>
          <p:cNvPr id="9" name="文本占位符 22"/>
          <p:cNvSpPr txBox="1"/>
          <p:nvPr/>
        </p:nvSpPr>
        <p:spPr>
          <a:xfrm>
            <a:off x="736282" y="3041304"/>
            <a:ext cx="1345790" cy="1226388"/>
          </a:xfrm>
          <a:prstGeom prst="rect">
            <a:avLst/>
          </a:prstGeom>
        </p:spPr>
        <p:txBody>
          <a:bodyPr/>
          <a:lstStyle>
            <a:lvl1pPr marL="0" indent="0" algn="ctr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7200" b="0" i="0" kern="1200">
                <a:solidFill>
                  <a:srgbClr val="E0C875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 smtClean="0"/>
              <a:t>02</a:t>
            </a:r>
            <a:endParaRPr kumimoji="1" lang="zh-CN" altLang="en-US" dirty="0"/>
          </a:p>
        </p:txBody>
      </p:sp>
      <p:cxnSp>
        <p:nvCxnSpPr>
          <p:cNvPr id="10" name="直线连接符 9"/>
          <p:cNvCxnSpPr/>
          <p:nvPr/>
        </p:nvCxnSpPr>
        <p:spPr>
          <a:xfrm>
            <a:off x="2224836" y="3189658"/>
            <a:ext cx="0" cy="873024"/>
          </a:xfrm>
          <a:prstGeom prst="line">
            <a:avLst/>
          </a:prstGeom>
          <a:ln w="25400">
            <a:solidFill>
              <a:srgbClr val="E0C8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282" y="432205"/>
            <a:ext cx="2224775" cy="441013"/>
          </a:xfrm>
          <a:prstGeom prst="rect">
            <a:avLst/>
          </a:prstGeom>
        </p:spPr>
      </p:pic>
      <p:sp>
        <p:nvSpPr>
          <p:cNvPr id="12" name="菱形 11"/>
          <p:cNvSpPr/>
          <p:nvPr/>
        </p:nvSpPr>
        <p:spPr>
          <a:xfrm>
            <a:off x="8565702" y="1534884"/>
            <a:ext cx="167038" cy="167038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" y="1213318"/>
            <a:ext cx="11518900" cy="444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 smtClean="0"/>
              <a:t>02 </a:t>
            </a:r>
            <a:r>
              <a:rPr kumimoji="1" lang="zh-CN" altLang="en-US" dirty="0" smtClean="0"/>
              <a:t>标准技术评审</a:t>
            </a:r>
            <a:endParaRPr kumimoji="1" lang="en-US" altLang="zh-CN" dirty="0"/>
          </a:p>
        </p:txBody>
      </p:sp>
      <p:sp>
        <p:nvSpPr>
          <p:cNvPr id="25" name="文本占位符 3"/>
          <p:cNvSpPr txBox="1"/>
          <p:nvPr/>
        </p:nvSpPr>
        <p:spPr>
          <a:xfrm>
            <a:off x="6827985" y="1107575"/>
            <a:ext cx="4385893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/>
              <a:t>第一步：新建</a:t>
            </a:r>
            <a:endParaRPr kumimoji="1" lang="zh-CN" altLang="en-US" dirty="0"/>
          </a:p>
        </p:txBody>
      </p:sp>
      <p:sp>
        <p:nvSpPr>
          <p:cNvPr id="26" name="内容占位符 6"/>
          <p:cNvSpPr txBox="1"/>
          <p:nvPr/>
        </p:nvSpPr>
        <p:spPr>
          <a:xfrm>
            <a:off x="6304955" y="1473141"/>
            <a:ext cx="5019538" cy="4672682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400" b="0" i="0" kern="120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/>
            <a:r>
              <a:rPr kumimoji="1" lang="zh-CN" altLang="en-US" dirty="0"/>
              <a:t>路径：</a:t>
            </a:r>
            <a:r>
              <a:rPr kumimoji="1" lang="en-US" altLang="zh-CN" dirty="0"/>
              <a:t>4-</a:t>
            </a:r>
            <a:r>
              <a:rPr kumimoji="1" lang="zh-CN" altLang="en-US" dirty="0"/>
              <a:t>商机</a:t>
            </a:r>
            <a:r>
              <a:rPr kumimoji="1" lang="en-US" altLang="zh-CN" dirty="0"/>
              <a:t>-</a:t>
            </a:r>
            <a:r>
              <a:rPr kumimoji="1" lang="zh-CN" altLang="en-US" dirty="0"/>
              <a:t>新建（带*全部必填</a:t>
            </a:r>
            <a:r>
              <a:rPr kumimoji="1" lang="zh-CN" altLang="en-US" dirty="0" smtClean="0"/>
              <a:t>）</a:t>
            </a:r>
            <a:endParaRPr kumimoji="1" lang="en-US" altLang="zh-CN" dirty="0" smtClean="0"/>
          </a:p>
          <a:p>
            <a:r>
              <a:rPr kumimoji="1" lang="en-US" altLang="zh-CN" dirty="0"/>
              <a:t>【</a:t>
            </a:r>
            <a:r>
              <a:rPr kumimoji="1" lang="zh-CN" altLang="en-US" dirty="0"/>
              <a:t>新建</a:t>
            </a:r>
            <a:r>
              <a:rPr kumimoji="1" lang="en-US" altLang="zh-CN" dirty="0"/>
              <a:t>】—</a:t>
            </a:r>
            <a:r>
              <a:rPr kumimoji="1" lang="zh-CN" altLang="en-US" dirty="0"/>
              <a:t>选择记录类型（默认：合一询单）</a:t>
            </a:r>
            <a:r>
              <a:rPr kumimoji="1" lang="en-US" altLang="zh-CN" dirty="0" smtClean="0"/>
              <a:t>—【</a:t>
            </a:r>
            <a:r>
              <a:rPr kumimoji="1" lang="zh-CN" altLang="en-US" dirty="0"/>
              <a:t>下一步</a:t>
            </a:r>
            <a:r>
              <a:rPr kumimoji="1" lang="en-US" altLang="zh-CN" dirty="0"/>
              <a:t>】</a:t>
            </a:r>
            <a:endParaRPr kumimoji="1" lang="en-US" altLang="zh-CN" dirty="0"/>
          </a:p>
          <a:p>
            <a:pPr indent="0"/>
            <a:endParaRPr kumimoji="1" lang="en-US" altLang="zh-CN" dirty="0" smtClean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" y="1441771"/>
            <a:ext cx="6403753" cy="21015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 smtClean="0"/>
              <a:t>02 </a:t>
            </a:r>
            <a:r>
              <a:rPr kumimoji="1" lang="zh-CN" altLang="en-US" dirty="0" smtClean="0"/>
              <a:t>标准技术评审</a:t>
            </a:r>
            <a:endParaRPr kumimoji="1" lang="en-US" altLang="zh-CN" dirty="0"/>
          </a:p>
        </p:txBody>
      </p:sp>
      <p:sp>
        <p:nvSpPr>
          <p:cNvPr id="25" name="文本占位符 3"/>
          <p:cNvSpPr txBox="1"/>
          <p:nvPr/>
        </p:nvSpPr>
        <p:spPr>
          <a:xfrm>
            <a:off x="6827985" y="1107575"/>
            <a:ext cx="4385893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/>
              <a:t>第二步：新建商机</a:t>
            </a:r>
            <a:endParaRPr kumimoji="1" lang="zh-CN" altLang="en-US" dirty="0"/>
          </a:p>
        </p:txBody>
      </p:sp>
      <p:sp>
        <p:nvSpPr>
          <p:cNvPr id="26" name="内容占位符 6"/>
          <p:cNvSpPr txBox="1"/>
          <p:nvPr/>
        </p:nvSpPr>
        <p:spPr>
          <a:xfrm>
            <a:off x="5372100" y="1473141"/>
            <a:ext cx="6084277" cy="5007034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400" b="0" i="0" kern="120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客户名称</a:t>
            </a:r>
            <a:r>
              <a:rPr kumimoji="1" lang="en-US" altLang="zh-CN" dirty="0"/>
              <a:t>】</a:t>
            </a:r>
            <a:r>
              <a:rPr kumimoji="1" lang="zh-CN" altLang="en-US" dirty="0"/>
              <a:t>直接输入客户简称可显示客户名称进行选择，也可以点击放大镜，进行搜索客户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采购订单号</a:t>
            </a:r>
            <a:r>
              <a:rPr kumimoji="1" lang="en-US" altLang="zh-CN" dirty="0"/>
              <a:t>】</a:t>
            </a:r>
            <a:r>
              <a:rPr kumimoji="1" lang="zh-CN" altLang="en-US" dirty="0"/>
              <a:t>客户的采购订单号，有则维护，没有则</a:t>
            </a:r>
            <a:r>
              <a:rPr kumimoji="1" lang="zh-CN" altLang="en-US" dirty="0" smtClean="0"/>
              <a:t>放空</a:t>
            </a:r>
            <a:endParaRPr kumimoji="1" lang="en-US" altLang="zh-CN" dirty="0" smtClean="0"/>
          </a:p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/>
              <a:t>类型</a:t>
            </a:r>
            <a:r>
              <a:rPr kumimoji="1" lang="en-US" altLang="zh-CN" dirty="0"/>
              <a:t>】</a:t>
            </a:r>
            <a:r>
              <a:rPr kumimoji="1" lang="zh-CN" altLang="en-US" dirty="0"/>
              <a:t>技术</a:t>
            </a:r>
            <a:r>
              <a:rPr kumimoji="1" lang="zh-CN" altLang="en-US" dirty="0" smtClean="0"/>
              <a:t>评审</a:t>
            </a:r>
            <a:endParaRPr kumimoji="1" lang="en-US" altLang="zh-CN" dirty="0" smtClean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合计询单报价类型</a:t>
            </a:r>
            <a:r>
              <a:rPr kumimoji="1" lang="en-US" altLang="zh-CN" dirty="0" smtClean="0"/>
              <a:t>】</a:t>
            </a:r>
            <a:r>
              <a:rPr kumimoji="1" lang="zh-CN" altLang="en-US" dirty="0" smtClean="0"/>
              <a:t>默认报价模板</a:t>
            </a:r>
            <a:endParaRPr kumimoji="1" lang="en-US" altLang="zh-CN" dirty="0" smtClean="0"/>
          </a:p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/>
              <a:t>报价有效期</a:t>
            </a:r>
            <a:r>
              <a:rPr kumimoji="1" lang="en-US" altLang="zh-CN" dirty="0"/>
              <a:t>】</a:t>
            </a:r>
            <a:r>
              <a:rPr kumimoji="1" lang="zh-CN" altLang="en-US" dirty="0"/>
              <a:t>默认一个月，如需延长或缩短，自行更改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要求装运日期</a:t>
            </a:r>
            <a:r>
              <a:rPr kumimoji="1" lang="en-US" altLang="zh-CN" dirty="0"/>
              <a:t>】</a:t>
            </a:r>
            <a:r>
              <a:rPr kumimoji="1" lang="zh-CN" altLang="en-US" dirty="0"/>
              <a:t>填写客户需求的真实交货日期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订单池</a:t>
            </a:r>
            <a:r>
              <a:rPr kumimoji="1" lang="en-US" altLang="zh-CN" dirty="0"/>
              <a:t>】</a:t>
            </a:r>
            <a:r>
              <a:rPr kumimoji="1" lang="zh-CN" altLang="en-US" dirty="0"/>
              <a:t>默认正常订单</a:t>
            </a:r>
            <a:r>
              <a:rPr kumimoji="1" lang="en-US" altLang="zh-CN" dirty="0"/>
              <a:t>-</a:t>
            </a:r>
            <a:r>
              <a:rPr kumimoji="1" lang="zh-CN" altLang="en-US" dirty="0"/>
              <a:t>直接交货，如有其他，自行</a:t>
            </a:r>
            <a:r>
              <a:rPr kumimoji="1" lang="zh-CN" altLang="en-US" dirty="0" smtClean="0"/>
              <a:t>更改</a:t>
            </a:r>
            <a:endParaRPr kumimoji="1" lang="en-US" altLang="zh-CN" dirty="0" smtClean="0"/>
          </a:p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 smtClean="0"/>
              <a:t>产品类型</a:t>
            </a:r>
            <a:r>
              <a:rPr kumimoji="1" lang="en-US" altLang="zh-CN" dirty="0" smtClean="0"/>
              <a:t>】</a:t>
            </a:r>
            <a:r>
              <a:rPr kumimoji="1" lang="zh-CN" altLang="en-US" dirty="0"/>
              <a:t>改型新产品、全新新产品、非标新产品</a:t>
            </a:r>
            <a:endParaRPr kumimoji="1" lang="en-US" altLang="zh-CN" dirty="0" smtClean="0"/>
          </a:p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 smtClean="0"/>
              <a:t>产品线</a:t>
            </a:r>
            <a:r>
              <a:rPr kumimoji="1" lang="en-US" altLang="zh-CN" dirty="0" smtClean="0"/>
              <a:t>】</a:t>
            </a:r>
            <a:r>
              <a:rPr lang="zh-CN" altLang="en-US" dirty="0"/>
              <a:t>通用</a:t>
            </a:r>
            <a:r>
              <a:rPr lang="zh-CN" altLang="en-US" dirty="0" smtClean="0"/>
              <a:t>行业、</a:t>
            </a:r>
            <a:r>
              <a:rPr lang="en-US" altLang="zh-CN" dirty="0" smtClean="0"/>
              <a:t>PCB</a:t>
            </a:r>
            <a:r>
              <a:rPr lang="zh-CN" altLang="en-US" dirty="0" smtClean="0"/>
              <a:t>行业、木工行业</a:t>
            </a:r>
            <a:endParaRPr kumimoji="1" lang="en-US" altLang="zh-CN" dirty="0" smtClean="0"/>
          </a:p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 smtClean="0"/>
              <a:t>规格数量</a:t>
            </a:r>
            <a:r>
              <a:rPr kumimoji="1" lang="en-US" altLang="zh-CN" dirty="0" smtClean="0"/>
              <a:t>】</a:t>
            </a:r>
            <a:r>
              <a:rPr kumimoji="1" lang="zh-CN" altLang="en-US" dirty="0" smtClean="0"/>
              <a:t>根据实际情况填写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客户收货地址</a:t>
            </a:r>
            <a:r>
              <a:rPr kumimoji="1" lang="en-US" altLang="zh-CN" dirty="0"/>
              <a:t>】</a:t>
            </a:r>
            <a:r>
              <a:rPr kumimoji="1" lang="zh-CN" altLang="en-US" dirty="0"/>
              <a:t>空值，保存后是客户主档的默认收货地址，如果有需要选择其他收货地址，点击放大机处，进行选择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保存</a:t>
            </a:r>
            <a:r>
              <a:rPr kumimoji="1" lang="en-US" altLang="zh-CN" dirty="0"/>
              <a:t>】</a:t>
            </a:r>
            <a:endParaRPr kumimoji="1" lang="en-US" altLang="zh-CN" dirty="0"/>
          </a:p>
          <a:p>
            <a:pPr indent="0"/>
            <a:r>
              <a:rPr kumimoji="1" lang="zh-CN" altLang="en-US" dirty="0"/>
              <a:t>备注：信息填写后，检查下所属套账信息（</a:t>
            </a:r>
            <a:r>
              <a:rPr kumimoji="1" lang="en-US" altLang="zh-CN" dirty="0" err="1"/>
              <a:t>gehc</a:t>
            </a:r>
            <a:r>
              <a:rPr kumimoji="1" lang="zh-CN" altLang="en-US" dirty="0"/>
              <a:t>），所属事业部（</a:t>
            </a:r>
            <a:r>
              <a:rPr kumimoji="1" lang="en-US" altLang="zh-CN" dirty="0"/>
              <a:t>25HJ</a:t>
            </a:r>
            <a:r>
              <a:rPr kumimoji="1" lang="zh-CN" altLang="en-US" dirty="0"/>
              <a:t>）信息对不对。</a:t>
            </a:r>
            <a:endParaRPr kumimoji="1" lang="zh-CN" altLang="en-US" dirty="0"/>
          </a:p>
          <a:p>
            <a:pPr indent="0"/>
            <a:r>
              <a:rPr kumimoji="1" lang="zh-CN" altLang="en-US" dirty="0"/>
              <a:t>如果信息填写有误，可以点击</a:t>
            </a:r>
            <a:r>
              <a:rPr kumimoji="1" lang="en-US" altLang="zh-CN" dirty="0"/>
              <a:t>【</a:t>
            </a:r>
            <a:r>
              <a:rPr kumimoji="1" lang="zh-CN" altLang="en-US" dirty="0"/>
              <a:t>编辑</a:t>
            </a:r>
            <a:r>
              <a:rPr kumimoji="1" lang="en-US" altLang="zh-CN" dirty="0"/>
              <a:t>】</a:t>
            </a:r>
            <a:r>
              <a:rPr kumimoji="1" lang="zh-CN" altLang="en-US" dirty="0"/>
              <a:t>进行更改，头部的客户采购订单号维护后，会全部带到行信息里的客户采购订单号。</a:t>
            </a:r>
            <a:endParaRPr kumimoji="1" lang="zh-CN" altLang="en-US" dirty="0"/>
          </a:p>
          <a:p>
            <a:pPr indent="0"/>
            <a:endParaRPr kumimoji="1" lang="en-US" altLang="zh-CN" dirty="0" smtClean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0" y="1107575"/>
            <a:ext cx="4660073" cy="239503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65" y="3674541"/>
            <a:ext cx="4509396" cy="26949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 smtClean="0"/>
              <a:t>02 </a:t>
            </a:r>
            <a:r>
              <a:rPr kumimoji="1" lang="zh-CN" altLang="en-US" dirty="0" smtClean="0"/>
              <a:t>标准</a:t>
            </a:r>
            <a:r>
              <a:rPr kumimoji="1" lang="zh-CN" altLang="en-US" dirty="0"/>
              <a:t>技术评审</a:t>
            </a:r>
            <a:endParaRPr kumimoji="1" lang="en-US" altLang="zh-CN" dirty="0"/>
          </a:p>
        </p:txBody>
      </p:sp>
      <p:sp>
        <p:nvSpPr>
          <p:cNvPr id="25" name="文本占位符 3"/>
          <p:cNvSpPr txBox="1"/>
          <p:nvPr/>
        </p:nvSpPr>
        <p:spPr>
          <a:xfrm>
            <a:off x="6915908" y="1465271"/>
            <a:ext cx="4385893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/>
              <a:t>第三步：商机</a:t>
            </a:r>
            <a:r>
              <a:rPr lang="zh-CN" altLang="zh-CN" dirty="0" smtClean="0"/>
              <a:t>询</a:t>
            </a:r>
            <a:r>
              <a:rPr lang="zh-CN" altLang="zh-CN" dirty="0"/>
              <a:t>单行信息创建</a:t>
            </a:r>
            <a:endParaRPr kumimoji="1" lang="zh-CN" altLang="en-US" dirty="0"/>
          </a:p>
        </p:txBody>
      </p:sp>
      <p:sp>
        <p:nvSpPr>
          <p:cNvPr id="26" name="内容占位符 6"/>
          <p:cNvSpPr txBox="1"/>
          <p:nvPr/>
        </p:nvSpPr>
        <p:spPr>
          <a:xfrm>
            <a:off x="6649461" y="2146141"/>
            <a:ext cx="4652340" cy="2561340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400" b="0" i="0" kern="120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/>
              <a:t>合一询单信息（报价）</a:t>
            </a:r>
            <a:r>
              <a:rPr kumimoji="1" lang="en-US" altLang="zh-CN" dirty="0" smtClean="0"/>
              <a:t>—【</a:t>
            </a:r>
            <a:r>
              <a:rPr kumimoji="1" lang="zh-CN" altLang="en-US" dirty="0" smtClean="0"/>
              <a:t>新建</a:t>
            </a:r>
            <a:r>
              <a:rPr kumimoji="1" lang="en-US" altLang="zh-CN" dirty="0" smtClean="0"/>
              <a:t>】</a:t>
            </a:r>
            <a:endParaRPr kumimoji="1" lang="en-US" altLang="zh-CN" dirty="0" smtClean="0"/>
          </a:p>
          <a:p>
            <a:endParaRPr kumimoji="1" lang="en-US" altLang="zh-CN" dirty="0" smtClean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" y="1230868"/>
            <a:ext cx="6429334" cy="217175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6811"/>
            <a:ext cx="6430129" cy="26303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/>
              <a:t>02 </a:t>
            </a:r>
            <a:r>
              <a:rPr kumimoji="1" lang="zh-CN" altLang="en-US" dirty="0"/>
              <a:t>标准技术评审</a:t>
            </a:r>
            <a:endParaRPr kumimoji="1" lang="en-US" altLang="zh-CN" dirty="0"/>
          </a:p>
        </p:txBody>
      </p:sp>
      <p:sp>
        <p:nvSpPr>
          <p:cNvPr id="25" name="文本占位符 3"/>
          <p:cNvSpPr txBox="1"/>
          <p:nvPr/>
        </p:nvSpPr>
        <p:spPr>
          <a:xfrm>
            <a:off x="4826977" y="1064868"/>
            <a:ext cx="4385893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dirty="0" smtClean="0"/>
              <a:t>询</a:t>
            </a:r>
            <a:r>
              <a:rPr lang="zh-CN" altLang="zh-CN" dirty="0"/>
              <a:t>单行信息</a:t>
            </a:r>
            <a:r>
              <a:rPr lang="zh-CN" altLang="zh-CN" dirty="0" smtClean="0"/>
              <a:t>创建</a:t>
            </a:r>
            <a:r>
              <a:rPr lang="zh-CN" altLang="en-US" dirty="0" smtClean="0"/>
              <a:t>方法一</a:t>
            </a:r>
            <a:endParaRPr kumimoji="1" lang="zh-CN" altLang="en-US" dirty="0"/>
          </a:p>
        </p:txBody>
      </p:sp>
      <p:sp>
        <p:nvSpPr>
          <p:cNvPr id="26" name="内容占位符 6"/>
          <p:cNvSpPr txBox="1"/>
          <p:nvPr/>
        </p:nvSpPr>
        <p:spPr>
          <a:xfrm>
            <a:off x="5398477" y="1574456"/>
            <a:ext cx="5919787" cy="5025881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400" b="0" i="0" kern="120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1650" indent="-285750">
              <a:buFont typeface="Wingdings" panose="05000000000000000000" pitchFamily="2" charset="2"/>
              <a:buChar char="u"/>
            </a:pPr>
            <a:r>
              <a:rPr kumimoji="1" lang="zh-CN" altLang="en-US" dirty="0" smtClean="0"/>
              <a:t>新建</a:t>
            </a:r>
            <a:r>
              <a:rPr kumimoji="1" lang="zh-CN" altLang="en-US" dirty="0"/>
              <a:t>，一行一行创建</a:t>
            </a:r>
            <a:endParaRPr kumimoji="1" lang="zh-CN" altLang="en-US" dirty="0"/>
          </a:p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/>
              <a:t>报价类型</a:t>
            </a:r>
            <a:r>
              <a:rPr kumimoji="1" lang="en-US" altLang="zh-CN" dirty="0"/>
              <a:t>】</a:t>
            </a:r>
            <a:r>
              <a:rPr kumimoji="1" lang="zh-CN" altLang="en-US" dirty="0"/>
              <a:t>默认报价模板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物料名称</a:t>
            </a:r>
            <a:r>
              <a:rPr kumimoji="1" lang="en-US" altLang="zh-CN" dirty="0"/>
              <a:t>】</a:t>
            </a:r>
            <a:r>
              <a:rPr kumimoji="1" lang="zh-CN" altLang="en-US" dirty="0"/>
              <a:t>输入产品名称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规格型号</a:t>
            </a:r>
            <a:r>
              <a:rPr kumimoji="1" lang="en-US" altLang="zh-CN" dirty="0"/>
              <a:t>】</a:t>
            </a:r>
            <a:r>
              <a:rPr kumimoji="1" lang="zh-CN" altLang="en-US" dirty="0"/>
              <a:t>填写规格名称，可以与物料名称一致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牌号</a:t>
            </a:r>
            <a:r>
              <a:rPr kumimoji="1" lang="en-US" altLang="zh-CN" dirty="0"/>
              <a:t>】</a:t>
            </a:r>
            <a:r>
              <a:rPr kumimoji="1" lang="zh-CN" altLang="en-US" dirty="0"/>
              <a:t>选择询单的</a:t>
            </a:r>
            <a:r>
              <a:rPr kumimoji="1" lang="zh-CN" altLang="en-US" dirty="0" smtClean="0"/>
              <a:t>牌号        </a:t>
            </a:r>
            <a:endParaRPr kumimoji="1" lang="en-US" altLang="zh-CN" dirty="0" smtClean="0"/>
          </a:p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 smtClean="0"/>
              <a:t>数量</a:t>
            </a:r>
            <a:r>
              <a:rPr kumimoji="1" lang="en-US" altLang="zh-CN" dirty="0"/>
              <a:t>】</a:t>
            </a:r>
            <a:r>
              <a:rPr kumimoji="1" lang="zh-CN" altLang="en-US" dirty="0"/>
              <a:t>客户询单数量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产品详细描述</a:t>
            </a:r>
            <a:r>
              <a:rPr kumimoji="1" lang="en-US" altLang="zh-CN" dirty="0"/>
              <a:t>】</a:t>
            </a:r>
            <a:r>
              <a:rPr kumimoji="1" lang="zh-CN" altLang="en-US" dirty="0"/>
              <a:t>产品的质量、公差、预计年需求量、预期毛利率、如果是精磨的话，精度也要提起填写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产品状态</a:t>
            </a:r>
            <a:r>
              <a:rPr kumimoji="1" lang="en-US" altLang="zh-CN" dirty="0"/>
              <a:t>】</a:t>
            </a:r>
            <a:r>
              <a:rPr kumimoji="1" lang="zh-CN" altLang="en-US" dirty="0"/>
              <a:t>选择填写精磨</a:t>
            </a:r>
            <a:r>
              <a:rPr kumimoji="1" lang="en-US" altLang="zh-CN" dirty="0"/>
              <a:t>/</a:t>
            </a:r>
            <a:r>
              <a:rPr kumimoji="1" lang="zh-CN" altLang="en-US" dirty="0"/>
              <a:t>毛坯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客户采购单号</a:t>
            </a:r>
            <a:r>
              <a:rPr kumimoji="1" lang="en-US" altLang="zh-CN" dirty="0"/>
              <a:t>】</a:t>
            </a:r>
            <a:r>
              <a:rPr kumimoji="1" lang="zh-CN" altLang="en-US" dirty="0"/>
              <a:t>客户的采购订单号，有则维护，无则放空</a:t>
            </a:r>
            <a:endParaRPr kumimoji="1" lang="zh-CN" altLang="en-US" dirty="0"/>
          </a:p>
          <a:p>
            <a:pPr indent="0"/>
            <a:endParaRPr kumimoji="1" lang="en-US" altLang="zh-CN" dirty="0" smtClean="0"/>
          </a:p>
          <a:p>
            <a:pPr indent="0"/>
            <a:endParaRPr kumimoji="1" lang="zh-CN" altLang="en-US" dirty="0"/>
          </a:p>
          <a:p>
            <a:endParaRPr kumimoji="1" lang="en-US" altLang="zh-CN" dirty="0" smtClean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79" y="1574456"/>
            <a:ext cx="5467121" cy="30851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/>
              <a:t>02 </a:t>
            </a:r>
            <a:r>
              <a:rPr kumimoji="1" lang="zh-CN" altLang="en-US" dirty="0"/>
              <a:t>标准技术评审</a:t>
            </a:r>
            <a:endParaRPr kumimoji="1" lang="en-US" altLang="zh-CN" dirty="0"/>
          </a:p>
        </p:txBody>
      </p:sp>
      <p:sp>
        <p:nvSpPr>
          <p:cNvPr id="25" name="文本占位符 3"/>
          <p:cNvSpPr txBox="1"/>
          <p:nvPr/>
        </p:nvSpPr>
        <p:spPr>
          <a:xfrm>
            <a:off x="4826977" y="1064868"/>
            <a:ext cx="4385893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dirty="0" smtClean="0"/>
              <a:t>询</a:t>
            </a:r>
            <a:r>
              <a:rPr lang="zh-CN" altLang="zh-CN" dirty="0"/>
              <a:t>单行信息</a:t>
            </a:r>
            <a:r>
              <a:rPr lang="zh-CN" altLang="zh-CN" dirty="0" smtClean="0"/>
              <a:t>创建</a:t>
            </a:r>
            <a:r>
              <a:rPr lang="zh-CN" altLang="en-US" dirty="0" smtClean="0"/>
              <a:t>方法一</a:t>
            </a:r>
            <a:endParaRPr kumimoji="1" lang="zh-CN" altLang="en-US" dirty="0"/>
          </a:p>
        </p:txBody>
      </p:sp>
      <p:sp>
        <p:nvSpPr>
          <p:cNvPr id="26" name="内容占位符 6"/>
          <p:cNvSpPr txBox="1"/>
          <p:nvPr/>
        </p:nvSpPr>
        <p:spPr>
          <a:xfrm>
            <a:off x="5230630" y="1730209"/>
            <a:ext cx="6289064" cy="5025881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400" b="0" i="0" kern="120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/>
              <a:t>技术指标参数</a:t>
            </a:r>
            <a:r>
              <a:rPr kumimoji="1" lang="en-US" altLang="zh-CN" dirty="0"/>
              <a:t>】</a:t>
            </a:r>
            <a:r>
              <a:rPr kumimoji="1" lang="zh-CN" altLang="en-US" dirty="0"/>
              <a:t>直径、长度为必填项，宽度则是板条才需要填写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物料价格组</a:t>
            </a:r>
            <a:r>
              <a:rPr kumimoji="1" lang="en-US" altLang="zh-CN" dirty="0"/>
              <a:t>】</a:t>
            </a:r>
            <a:r>
              <a:rPr kumimoji="1" lang="zh-CN" altLang="en-US" dirty="0"/>
              <a:t>按照产品类别进行选择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要求装运日期</a:t>
            </a:r>
            <a:r>
              <a:rPr kumimoji="1" lang="en-US" altLang="zh-CN" dirty="0"/>
              <a:t>】</a:t>
            </a:r>
            <a:r>
              <a:rPr kumimoji="1" lang="zh-CN" altLang="en-US" dirty="0"/>
              <a:t>默认是带头部选择的信息，如果每一行的要求装运日期不同，那么自行修改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客户确认交期备注</a:t>
            </a:r>
            <a:r>
              <a:rPr kumimoji="1" lang="en-US" altLang="zh-CN" dirty="0"/>
              <a:t>】</a:t>
            </a:r>
            <a:r>
              <a:rPr kumimoji="1" lang="zh-CN" altLang="en-US" dirty="0"/>
              <a:t>如果客户期望的交期是急单的，如实填写要求装运日期，可在此处备注下重要程度等信息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是否急单</a:t>
            </a:r>
            <a:r>
              <a:rPr kumimoji="1" lang="en-US" altLang="zh-CN" dirty="0"/>
              <a:t>】</a:t>
            </a:r>
            <a:r>
              <a:rPr kumimoji="1" lang="zh-CN" altLang="en-US" dirty="0"/>
              <a:t>默认“否”，如果是急单，那么就更改为</a:t>
            </a:r>
            <a:r>
              <a:rPr kumimoji="1" lang="zh-CN" altLang="en-US" dirty="0" smtClean="0"/>
              <a:t>“是”</a:t>
            </a:r>
            <a:r>
              <a:rPr kumimoji="1" lang="en-US" altLang="zh-CN" dirty="0"/>
              <a:t> </a:t>
            </a:r>
            <a:endParaRPr kumimoji="1" lang="en-US" altLang="zh-CN" dirty="0" smtClean="0"/>
          </a:p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/>
              <a:t>保存并新建</a:t>
            </a:r>
            <a:r>
              <a:rPr kumimoji="1" lang="en-US" altLang="zh-CN" dirty="0"/>
              <a:t>】</a:t>
            </a:r>
            <a:r>
              <a:rPr kumimoji="1" lang="zh-CN" altLang="en-US" dirty="0"/>
              <a:t>如果询单是多行的话，那么点击保存并新建，就可以继续新建规格，重复操作；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保存</a:t>
            </a:r>
            <a:r>
              <a:rPr kumimoji="1" lang="en-US" altLang="zh-CN" dirty="0"/>
              <a:t>】</a:t>
            </a:r>
            <a:r>
              <a:rPr kumimoji="1" lang="zh-CN" altLang="en-US" dirty="0"/>
              <a:t>询单已经是最后一行，不需要再新建，那么就点保存</a:t>
            </a:r>
            <a:r>
              <a:rPr kumimoji="1" lang="zh-CN" altLang="en-US" dirty="0" smtClean="0"/>
              <a:t>。</a:t>
            </a:r>
            <a:endParaRPr kumimoji="1" lang="en-US" altLang="zh-CN" dirty="0" smtClean="0"/>
          </a:p>
          <a:p>
            <a:pPr indent="0"/>
            <a:r>
              <a:rPr kumimoji="1" lang="zh-CN" altLang="en-US" dirty="0"/>
              <a:t>备注：第一次点交期计算，若系统测算出的交期未能满足客户需求，那么是否急单，勾选急单，再点一次交期计算，系统会重新按照急单计算交期，如有变化，则有条件改型，若交期未有变化，则</a:t>
            </a:r>
            <a:r>
              <a:rPr lang="en-US" altLang="zh-CN" dirty="0"/>
              <a:t>【</a:t>
            </a:r>
            <a:r>
              <a:rPr lang="zh-CN" altLang="en-US" dirty="0"/>
              <a:t>生管交期备注</a:t>
            </a:r>
            <a:r>
              <a:rPr lang="en-US" altLang="zh-CN" dirty="0"/>
              <a:t>】</a:t>
            </a:r>
            <a:r>
              <a:rPr lang="zh-CN" altLang="en-US" dirty="0"/>
              <a:t>字段自动提示“标准原料供应周期”</a:t>
            </a:r>
            <a:endParaRPr kumimoji="1" lang="zh-CN" altLang="en-US" dirty="0"/>
          </a:p>
          <a:p>
            <a:pPr indent="0"/>
            <a:endParaRPr kumimoji="1" lang="zh-CN" altLang="en-US" dirty="0"/>
          </a:p>
          <a:p>
            <a:pPr indent="0"/>
            <a:endParaRPr kumimoji="1" lang="en-US" altLang="zh-CN" dirty="0" smtClean="0"/>
          </a:p>
          <a:p>
            <a:pPr indent="0"/>
            <a:endParaRPr kumimoji="1" lang="zh-CN" altLang="en-US" dirty="0"/>
          </a:p>
          <a:p>
            <a:endParaRPr kumimoji="1" lang="en-US" altLang="zh-CN" dirty="0" smtClean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" y="1730209"/>
            <a:ext cx="5476073" cy="32726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/>
              <a:t>02 </a:t>
            </a:r>
            <a:r>
              <a:rPr kumimoji="1" lang="zh-CN" altLang="en-US" dirty="0"/>
              <a:t>标准技术评审</a:t>
            </a:r>
            <a:endParaRPr kumimoji="1" lang="en-US" altLang="zh-CN" dirty="0"/>
          </a:p>
        </p:txBody>
      </p:sp>
      <p:sp>
        <p:nvSpPr>
          <p:cNvPr id="25" name="文本占位符 3"/>
          <p:cNvSpPr txBox="1"/>
          <p:nvPr/>
        </p:nvSpPr>
        <p:spPr>
          <a:xfrm>
            <a:off x="896815" y="1099877"/>
            <a:ext cx="4385893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dirty="0" smtClean="0"/>
              <a:t>询</a:t>
            </a:r>
            <a:r>
              <a:rPr lang="zh-CN" altLang="zh-CN" dirty="0"/>
              <a:t>单行信息</a:t>
            </a:r>
            <a:r>
              <a:rPr lang="zh-CN" altLang="zh-CN" dirty="0" smtClean="0"/>
              <a:t>创建</a:t>
            </a:r>
            <a:r>
              <a:rPr lang="zh-CN" altLang="en-US" dirty="0" smtClean="0"/>
              <a:t>方法二</a:t>
            </a:r>
            <a:endParaRPr kumimoji="1" lang="zh-CN" altLang="en-US" dirty="0"/>
          </a:p>
        </p:txBody>
      </p:sp>
      <p:sp>
        <p:nvSpPr>
          <p:cNvPr id="26" name="内容占位符 6"/>
          <p:cNvSpPr txBox="1"/>
          <p:nvPr/>
        </p:nvSpPr>
        <p:spPr>
          <a:xfrm>
            <a:off x="896815" y="1703044"/>
            <a:ext cx="10622879" cy="706061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400" b="0" i="0" kern="120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1650" indent="-285750">
              <a:buFont typeface="Wingdings" panose="05000000000000000000" pitchFamily="2" charset="2"/>
              <a:buChar char="u"/>
            </a:pPr>
            <a:r>
              <a:rPr lang="zh-CN" altLang="zh-CN" dirty="0"/>
              <a:t>批量导</a:t>
            </a:r>
            <a:r>
              <a:rPr lang="zh-CN" altLang="zh-CN" dirty="0" smtClean="0"/>
              <a:t>入</a:t>
            </a:r>
            <a:endParaRPr lang="en-US" altLang="zh-CN" dirty="0" smtClean="0"/>
          </a:p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/>
              <a:t>点击批量导入，下载模版，按照模板（技术评审）要求填写内容，然后选择文件，点击上传</a:t>
            </a:r>
            <a:endParaRPr kumimoji="1" lang="en-US" altLang="zh-CN" dirty="0" smtClean="0"/>
          </a:p>
          <a:p>
            <a:pPr indent="0"/>
            <a:endParaRPr kumimoji="1" lang="zh-CN" altLang="en-US" dirty="0"/>
          </a:p>
          <a:p>
            <a:endParaRPr kumimoji="1" lang="en-US" altLang="zh-CN" dirty="0" smtClean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976" y="2695341"/>
            <a:ext cx="7830062" cy="26459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 smtClean="0"/>
              <a:t>02 </a:t>
            </a:r>
            <a:r>
              <a:rPr kumimoji="1" lang="zh-CN" altLang="en-US" dirty="0" smtClean="0"/>
              <a:t>标准技术评审</a:t>
            </a:r>
            <a:endParaRPr kumimoji="1" lang="en-US" altLang="zh-CN" dirty="0"/>
          </a:p>
        </p:txBody>
      </p:sp>
      <p:sp>
        <p:nvSpPr>
          <p:cNvPr id="25" name="文本占位符 3"/>
          <p:cNvSpPr txBox="1"/>
          <p:nvPr/>
        </p:nvSpPr>
        <p:spPr>
          <a:xfrm>
            <a:off x="714604" y="1183691"/>
            <a:ext cx="4385893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/>
              <a:t>第四步：</a:t>
            </a:r>
            <a:r>
              <a:rPr lang="zh-CN" altLang="zh-CN" dirty="0"/>
              <a:t>价格计算</a:t>
            </a:r>
            <a:endParaRPr kumimoji="1" lang="zh-CN" altLang="en-US" dirty="0"/>
          </a:p>
        </p:txBody>
      </p:sp>
      <p:sp>
        <p:nvSpPr>
          <p:cNvPr id="26" name="内容占位符 6"/>
          <p:cNvSpPr txBox="1"/>
          <p:nvPr/>
        </p:nvSpPr>
        <p:spPr>
          <a:xfrm>
            <a:off x="300709" y="1601165"/>
            <a:ext cx="11218985" cy="1173344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400" b="0" i="0" kern="120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合一价格计算</a:t>
            </a:r>
            <a:r>
              <a:rPr kumimoji="1" lang="en-US" altLang="zh-CN" dirty="0"/>
              <a:t>】</a:t>
            </a:r>
            <a:r>
              <a:rPr kumimoji="1" lang="zh-CN" altLang="en-US" dirty="0"/>
              <a:t>如果是走牌价的信息，价格会算出来；如果不是牌价信息，那么手动在实际价格处填写该规格的价格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合一交期计算</a:t>
            </a:r>
            <a:r>
              <a:rPr kumimoji="1" lang="en-US" altLang="zh-CN" dirty="0"/>
              <a:t>】</a:t>
            </a:r>
            <a:r>
              <a:rPr kumimoji="1" lang="zh-CN" altLang="en-US" dirty="0"/>
              <a:t>技术评审没有技术线，无法测算交期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提交待审批</a:t>
            </a:r>
            <a:r>
              <a:rPr kumimoji="1" lang="en-US" altLang="zh-CN" dirty="0"/>
              <a:t>】</a:t>
            </a:r>
            <a:r>
              <a:rPr kumimoji="1" lang="zh-CN" altLang="en-US" dirty="0"/>
              <a:t>检查无误后提交审批，流程会先到研发部产品评审员处评审</a:t>
            </a:r>
            <a:endParaRPr kumimoji="1" lang="zh-CN" altLang="en-US" dirty="0"/>
          </a:p>
          <a:p>
            <a:pPr indent="0"/>
            <a:endParaRPr kumimoji="1" lang="en-US" altLang="zh-CN" dirty="0" smtClean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604" y="2774509"/>
            <a:ext cx="9064144" cy="30159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 smtClean="0"/>
              <a:t>02 </a:t>
            </a:r>
            <a:r>
              <a:rPr kumimoji="1" lang="zh-CN" altLang="en-US" dirty="0" smtClean="0"/>
              <a:t>标准技术评审</a:t>
            </a:r>
            <a:endParaRPr kumimoji="1" lang="en-US" altLang="zh-CN" dirty="0"/>
          </a:p>
        </p:txBody>
      </p:sp>
      <p:sp>
        <p:nvSpPr>
          <p:cNvPr id="25" name="文本占位符 3"/>
          <p:cNvSpPr txBox="1"/>
          <p:nvPr/>
        </p:nvSpPr>
        <p:spPr>
          <a:xfrm>
            <a:off x="6690627" y="1183691"/>
            <a:ext cx="4385893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/>
              <a:t>第五步：</a:t>
            </a:r>
            <a:r>
              <a:rPr lang="zh-CN" altLang="en-US" dirty="0" smtClean="0"/>
              <a:t>审批流</a:t>
            </a:r>
            <a:endParaRPr kumimoji="1" lang="zh-CN" altLang="en-US" dirty="0"/>
          </a:p>
        </p:txBody>
      </p:sp>
      <p:sp>
        <p:nvSpPr>
          <p:cNvPr id="26" name="内容占位符 6"/>
          <p:cNvSpPr txBox="1"/>
          <p:nvPr/>
        </p:nvSpPr>
        <p:spPr>
          <a:xfrm>
            <a:off x="6520334" y="1972280"/>
            <a:ext cx="4999360" cy="3568712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400" b="0" i="0" kern="120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/>
            <a:r>
              <a:rPr kumimoji="1" lang="zh-CN" altLang="en-US" dirty="0" smtClean="0"/>
              <a:t>提交后，审批流为：行业经理审核</a:t>
            </a:r>
            <a:r>
              <a:rPr kumimoji="1" lang="en-US" altLang="zh-CN" dirty="0" smtClean="0"/>
              <a:t>—</a:t>
            </a:r>
            <a:r>
              <a:rPr kumimoji="1" lang="zh-CN" altLang="en-US" dirty="0" smtClean="0"/>
              <a:t>技术评审</a:t>
            </a:r>
            <a:r>
              <a:rPr kumimoji="1" lang="en-US" altLang="zh-CN" dirty="0" smtClean="0"/>
              <a:t>—</a:t>
            </a:r>
            <a:r>
              <a:rPr kumimoji="1" lang="zh-CN" altLang="en-US" dirty="0" smtClean="0"/>
              <a:t>总监审批</a:t>
            </a:r>
            <a:r>
              <a:rPr kumimoji="1" lang="en-US" altLang="zh-CN" dirty="0" smtClean="0"/>
              <a:t>—</a:t>
            </a:r>
            <a:r>
              <a:rPr kumimoji="1" lang="zh-CN" altLang="en-US" dirty="0" smtClean="0"/>
              <a:t>生管审批</a:t>
            </a:r>
            <a:r>
              <a:rPr kumimoji="1" lang="en-US" altLang="zh-CN" dirty="0" smtClean="0"/>
              <a:t>—</a:t>
            </a:r>
            <a:r>
              <a:rPr kumimoji="1" lang="zh-CN" altLang="en-US" dirty="0" smtClean="0"/>
              <a:t>价格审批</a:t>
            </a:r>
            <a:endParaRPr kumimoji="1" lang="en-US" altLang="zh-CN" dirty="0" smtClean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104" y="1683972"/>
            <a:ext cx="6552438" cy="41453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 smtClean="0"/>
              <a:t>02 </a:t>
            </a:r>
            <a:r>
              <a:rPr kumimoji="1" lang="zh-CN" altLang="en-US" dirty="0" smtClean="0"/>
              <a:t>标准技术评审</a:t>
            </a:r>
            <a:endParaRPr kumimoji="1" lang="en-US" altLang="zh-CN" dirty="0"/>
          </a:p>
        </p:txBody>
      </p:sp>
      <p:sp>
        <p:nvSpPr>
          <p:cNvPr id="25" name="文本占位符 3"/>
          <p:cNvSpPr txBox="1"/>
          <p:nvPr/>
        </p:nvSpPr>
        <p:spPr>
          <a:xfrm>
            <a:off x="6690627" y="1183691"/>
            <a:ext cx="4385893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/>
              <a:t>第六步：</a:t>
            </a:r>
            <a:r>
              <a:rPr lang="zh-CN" altLang="en-US" dirty="0" smtClean="0"/>
              <a:t>物料编码申请</a:t>
            </a:r>
            <a:endParaRPr kumimoji="1" lang="zh-CN" altLang="en-US" dirty="0"/>
          </a:p>
        </p:txBody>
      </p:sp>
      <p:sp>
        <p:nvSpPr>
          <p:cNvPr id="26" name="内容占位符 6"/>
          <p:cNvSpPr txBox="1"/>
          <p:nvPr/>
        </p:nvSpPr>
        <p:spPr>
          <a:xfrm>
            <a:off x="6341894" y="1939914"/>
            <a:ext cx="4999360" cy="3568712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400" b="0" i="0" kern="120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/>
            <a:r>
              <a:rPr kumimoji="1" lang="zh-CN" altLang="en-US" dirty="0"/>
              <a:t>如果确认该规格客户要下单</a:t>
            </a:r>
            <a:r>
              <a:rPr kumimoji="1" lang="zh-CN" altLang="en-US" dirty="0" smtClean="0"/>
              <a:t>，进入</a:t>
            </a:r>
            <a:r>
              <a:rPr kumimoji="1" lang="en-US" altLang="zh-CN" dirty="0"/>
              <a:t>【</a:t>
            </a:r>
            <a:r>
              <a:rPr kumimoji="1" lang="zh-CN" altLang="en-US" dirty="0"/>
              <a:t>批量编辑</a:t>
            </a:r>
            <a:r>
              <a:rPr kumimoji="1" lang="en-US" altLang="zh-CN" dirty="0"/>
              <a:t>】</a:t>
            </a:r>
            <a:r>
              <a:rPr kumimoji="1" lang="zh-CN" altLang="en-US" dirty="0"/>
              <a:t>是否转单选择“是”</a:t>
            </a:r>
            <a:r>
              <a:rPr kumimoji="1" lang="zh-CN" altLang="en-US" dirty="0" smtClean="0"/>
              <a:t>保存；</a:t>
            </a:r>
            <a:endParaRPr kumimoji="1" lang="en-US" altLang="zh-CN" dirty="0" smtClean="0"/>
          </a:p>
          <a:p>
            <a:pPr indent="0"/>
            <a:r>
              <a:rPr kumimoji="1" lang="zh-CN" altLang="en-US" dirty="0" smtClean="0"/>
              <a:t>点击</a:t>
            </a:r>
            <a:r>
              <a:rPr kumimoji="1" lang="en-US" altLang="zh-CN" dirty="0"/>
              <a:t>【</a:t>
            </a:r>
            <a:r>
              <a:rPr kumimoji="1" lang="zh-CN" altLang="en-US" dirty="0"/>
              <a:t>合一物料编码申请</a:t>
            </a:r>
            <a:r>
              <a:rPr kumimoji="1" lang="en-US" altLang="zh-CN" dirty="0"/>
              <a:t>】</a:t>
            </a:r>
            <a:r>
              <a:rPr kumimoji="1" lang="zh-CN" altLang="en-US" dirty="0"/>
              <a:t>自动生成物料编码申请单号，流程流转到</a:t>
            </a:r>
            <a:r>
              <a:rPr kumimoji="1" lang="en-US" altLang="zh-CN" dirty="0"/>
              <a:t>ERP</a:t>
            </a:r>
            <a:r>
              <a:rPr kumimoji="1" lang="zh-CN" altLang="en-US" dirty="0"/>
              <a:t>处，等产品评审员编写完编码后，编码会自动回写到</a:t>
            </a:r>
            <a:r>
              <a:rPr kumimoji="1" lang="en-US" altLang="zh-CN" dirty="0"/>
              <a:t>CRM</a:t>
            </a:r>
            <a:r>
              <a:rPr kumimoji="1" lang="zh-CN" altLang="en-US" dirty="0"/>
              <a:t>系统。</a:t>
            </a:r>
            <a:endParaRPr kumimoji="1" lang="en-US" altLang="zh-CN" dirty="0" smtClean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105" y="1064868"/>
            <a:ext cx="6373999" cy="290925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105" y="4059500"/>
            <a:ext cx="6455420" cy="18174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 smtClean="0"/>
              <a:t>02 </a:t>
            </a:r>
            <a:r>
              <a:rPr kumimoji="1" lang="zh-CN" altLang="en-US" dirty="0" smtClean="0"/>
              <a:t>标准技术评审</a:t>
            </a:r>
            <a:endParaRPr kumimoji="1" lang="en-US" altLang="zh-CN" dirty="0"/>
          </a:p>
        </p:txBody>
      </p:sp>
      <p:sp>
        <p:nvSpPr>
          <p:cNvPr id="25" name="文本占位符 3"/>
          <p:cNvSpPr txBox="1"/>
          <p:nvPr/>
        </p:nvSpPr>
        <p:spPr>
          <a:xfrm>
            <a:off x="6827985" y="1107575"/>
            <a:ext cx="4385893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/>
              <a:t>第七步：商机转订单</a:t>
            </a:r>
            <a:endParaRPr kumimoji="1" lang="zh-CN" altLang="en-US" dirty="0"/>
          </a:p>
        </p:txBody>
      </p:sp>
      <p:sp>
        <p:nvSpPr>
          <p:cNvPr id="26" name="内容占位符 6"/>
          <p:cNvSpPr txBox="1"/>
          <p:nvPr/>
        </p:nvSpPr>
        <p:spPr>
          <a:xfrm>
            <a:off x="6304955" y="1473141"/>
            <a:ext cx="5019538" cy="4672682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400" b="0" i="0" kern="120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/>
            <a:endParaRPr kumimoji="1" lang="en-US" altLang="zh-CN" dirty="0" smtClean="0"/>
          </a:p>
          <a:p>
            <a:pPr indent="0"/>
            <a:r>
              <a:rPr kumimoji="1" lang="zh-CN" altLang="en-US" dirty="0" smtClean="0"/>
              <a:t>物料编码生成后，选择 合一</a:t>
            </a:r>
            <a:r>
              <a:rPr kumimoji="1" lang="zh-CN" altLang="en-US" dirty="0"/>
              <a:t>商机转订单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是否生成新订单</a:t>
            </a:r>
            <a:r>
              <a:rPr kumimoji="1" lang="en-US" altLang="zh-CN" dirty="0"/>
              <a:t>】</a:t>
            </a:r>
            <a:r>
              <a:rPr kumimoji="1" lang="zh-CN" altLang="en-US" dirty="0"/>
              <a:t>：如果商机里所有的行，要生成多个订单，那么选择“是”，反之选择“否”；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是否生成贸易协议</a:t>
            </a:r>
            <a:r>
              <a:rPr kumimoji="1" lang="en-US" altLang="zh-CN" dirty="0"/>
              <a:t>】</a:t>
            </a:r>
            <a:r>
              <a:rPr kumimoji="1" lang="zh-CN" altLang="en-US" dirty="0"/>
              <a:t>如果该询单规格，价格均不是牌价，可以选择“是”那么下次询单下同个规格，在有效期内就能自动审批价格了；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是否关闭询单</a:t>
            </a:r>
            <a:r>
              <a:rPr kumimoji="1" lang="en-US" altLang="zh-CN" dirty="0"/>
              <a:t>】</a:t>
            </a:r>
            <a:r>
              <a:rPr kumimoji="1" lang="zh-CN" altLang="en-US" dirty="0"/>
              <a:t>默认是“否”，但是如果整个询单都处理完毕，则改为“是”，反之则“否”；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确定</a:t>
            </a:r>
            <a:r>
              <a:rPr kumimoji="1" lang="en-US" altLang="zh-CN" dirty="0"/>
              <a:t>】</a:t>
            </a:r>
            <a:r>
              <a:rPr kumimoji="1" lang="zh-CN" altLang="en-US" dirty="0"/>
              <a:t>点击确定后，则自动生成销售订单。</a:t>
            </a:r>
            <a:endParaRPr kumimoji="1" lang="zh-CN" altLang="en-US" dirty="0"/>
          </a:p>
          <a:p>
            <a:pPr indent="0"/>
            <a:r>
              <a:rPr kumimoji="1" lang="zh-CN" altLang="en-US" dirty="0"/>
              <a:t>备注：批量编辑处，可以编辑实际价格、数量、订单数量（最终转销售订单数量也就是成交数量）、要求装运日期、是否转单、不同意转单原因、客户采购单号维护</a:t>
            </a:r>
            <a:r>
              <a:rPr kumimoji="1" lang="zh-CN" altLang="en-US" dirty="0" smtClean="0"/>
              <a:t>。</a:t>
            </a:r>
            <a:endParaRPr kumimoji="1" lang="en-US" altLang="zh-CN" dirty="0" smtClean="0"/>
          </a:p>
          <a:p>
            <a:pPr indent="0"/>
            <a:r>
              <a:rPr lang="zh-CN" altLang="en-US" dirty="0"/>
              <a:t>特别注意：商机转订单，确定按钮，只能点一次，若是因为网络原因</a:t>
            </a:r>
            <a:r>
              <a:rPr lang="en-US" altLang="zh-CN" dirty="0"/>
              <a:t>/</a:t>
            </a:r>
            <a:r>
              <a:rPr lang="zh-CN" altLang="en-US" dirty="0"/>
              <a:t>系统原因迟迟未能转成功，不要再次点确定，直接关闭界面刷新确认是否转成功，未成功再重新转。</a:t>
            </a:r>
            <a:endParaRPr lang="zh-CN" altLang="en-US" dirty="0"/>
          </a:p>
          <a:p>
            <a:pPr indent="0"/>
            <a:endParaRPr kumimoji="1" lang="zh-CN" altLang="en-US" dirty="0"/>
          </a:p>
          <a:p>
            <a:pPr indent="0"/>
            <a:endParaRPr kumimoji="1" lang="zh-CN" altLang="en-US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" y="1186905"/>
            <a:ext cx="6403753" cy="189513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" y="3368273"/>
            <a:ext cx="6423856" cy="24874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alphaModFix amt="85000"/>
          </a:blip>
          <a:srcRect t="1963" b="23722"/>
          <a:stretch>
            <a:fillRect/>
          </a:stretch>
        </p:blipFill>
        <p:spPr>
          <a:xfrm>
            <a:off x="0" y="1657818"/>
            <a:ext cx="11520488" cy="482235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588" y="1657818"/>
            <a:ext cx="11518900" cy="4822357"/>
          </a:xfrm>
          <a:prstGeom prst="rect">
            <a:avLst/>
          </a:prstGeom>
          <a:solidFill>
            <a:srgbClr val="0B67E4">
              <a:alpha val="6206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        </a:t>
            </a:r>
            <a:endParaRPr kumimoji="1" lang="zh-CN" altLang="en-US" dirty="0"/>
          </a:p>
        </p:txBody>
      </p:sp>
      <p:sp>
        <p:nvSpPr>
          <p:cNvPr id="7" name="文本占位符 12"/>
          <p:cNvSpPr txBox="1"/>
          <p:nvPr/>
        </p:nvSpPr>
        <p:spPr>
          <a:xfrm>
            <a:off x="2367602" y="3328920"/>
            <a:ext cx="5598152" cy="61218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4000" b="0" i="0" kern="120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/>
              <a:t>非标技术评审</a:t>
            </a:r>
            <a:endParaRPr kumimoji="1" lang="zh-CN" altLang="en-US" dirty="0"/>
          </a:p>
        </p:txBody>
      </p:sp>
      <p:sp>
        <p:nvSpPr>
          <p:cNvPr id="8" name="文本占位符 12"/>
          <p:cNvSpPr txBox="1"/>
          <p:nvPr/>
        </p:nvSpPr>
        <p:spPr>
          <a:xfrm>
            <a:off x="2367602" y="3686176"/>
            <a:ext cx="4556816" cy="48150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sz="2400" b="0" i="0" kern="1200">
                <a:solidFill>
                  <a:schemeClr val="bg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kumimoji="1" lang="zh-CN" altLang="en-US" dirty="0"/>
          </a:p>
        </p:txBody>
      </p:sp>
      <p:sp>
        <p:nvSpPr>
          <p:cNvPr id="9" name="文本占位符 22"/>
          <p:cNvSpPr txBox="1"/>
          <p:nvPr/>
        </p:nvSpPr>
        <p:spPr>
          <a:xfrm>
            <a:off x="736282" y="3041304"/>
            <a:ext cx="1345790" cy="1226388"/>
          </a:xfrm>
          <a:prstGeom prst="rect">
            <a:avLst/>
          </a:prstGeom>
        </p:spPr>
        <p:txBody>
          <a:bodyPr/>
          <a:lstStyle>
            <a:lvl1pPr marL="0" indent="0" algn="ctr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7200" b="0" i="0" kern="1200">
                <a:solidFill>
                  <a:srgbClr val="E0C875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 smtClean="0"/>
              <a:t>03</a:t>
            </a:r>
            <a:endParaRPr kumimoji="1" lang="zh-CN" altLang="en-US" dirty="0"/>
          </a:p>
        </p:txBody>
      </p:sp>
      <p:cxnSp>
        <p:nvCxnSpPr>
          <p:cNvPr id="10" name="直线连接符 9"/>
          <p:cNvCxnSpPr/>
          <p:nvPr/>
        </p:nvCxnSpPr>
        <p:spPr>
          <a:xfrm>
            <a:off x="2224836" y="3189658"/>
            <a:ext cx="0" cy="873024"/>
          </a:xfrm>
          <a:prstGeom prst="line">
            <a:avLst/>
          </a:prstGeom>
          <a:ln w="25400">
            <a:solidFill>
              <a:srgbClr val="E0C8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282" y="432205"/>
            <a:ext cx="2224775" cy="441013"/>
          </a:xfrm>
          <a:prstGeom prst="rect">
            <a:avLst/>
          </a:prstGeom>
        </p:spPr>
      </p:pic>
      <p:sp>
        <p:nvSpPr>
          <p:cNvPr id="12" name="菱形 11"/>
          <p:cNvSpPr/>
          <p:nvPr/>
        </p:nvSpPr>
        <p:spPr>
          <a:xfrm>
            <a:off x="8565702" y="1534884"/>
            <a:ext cx="167038" cy="167038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" y="1213318"/>
            <a:ext cx="11518900" cy="444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 smtClean="0"/>
              <a:t>03 </a:t>
            </a:r>
            <a:r>
              <a:rPr kumimoji="1" lang="zh-CN" altLang="en-US" dirty="0" smtClean="0"/>
              <a:t>非标技术评审</a:t>
            </a:r>
            <a:endParaRPr kumimoji="1" lang="en-US" altLang="zh-CN" dirty="0"/>
          </a:p>
        </p:txBody>
      </p:sp>
      <p:sp>
        <p:nvSpPr>
          <p:cNvPr id="25" name="文本占位符 3"/>
          <p:cNvSpPr txBox="1"/>
          <p:nvPr/>
        </p:nvSpPr>
        <p:spPr>
          <a:xfrm>
            <a:off x="6827985" y="1107575"/>
            <a:ext cx="4385893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/>
              <a:t>第一步：新建</a:t>
            </a:r>
            <a:endParaRPr kumimoji="1" lang="zh-CN" altLang="en-US" dirty="0"/>
          </a:p>
        </p:txBody>
      </p:sp>
      <p:sp>
        <p:nvSpPr>
          <p:cNvPr id="26" name="内容占位符 6"/>
          <p:cNvSpPr txBox="1"/>
          <p:nvPr/>
        </p:nvSpPr>
        <p:spPr>
          <a:xfrm>
            <a:off x="6304955" y="1473141"/>
            <a:ext cx="5019538" cy="4672682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400" b="0" i="0" kern="120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/>
            <a:r>
              <a:rPr kumimoji="1" lang="zh-CN" altLang="en-US" dirty="0"/>
              <a:t>路径：</a:t>
            </a:r>
            <a:r>
              <a:rPr kumimoji="1" lang="en-US" altLang="zh-CN" dirty="0"/>
              <a:t>4-</a:t>
            </a:r>
            <a:r>
              <a:rPr kumimoji="1" lang="zh-CN" altLang="en-US" dirty="0"/>
              <a:t>商机</a:t>
            </a:r>
            <a:r>
              <a:rPr kumimoji="1" lang="en-US" altLang="zh-CN" dirty="0"/>
              <a:t>-</a:t>
            </a:r>
            <a:r>
              <a:rPr kumimoji="1" lang="zh-CN" altLang="en-US" dirty="0"/>
              <a:t>新建（带*全部必填</a:t>
            </a:r>
            <a:r>
              <a:rPr kumimoji="1" lang="zh-CN" altLang="en-US" dirty="0" smtClean="0"/>
              <a:t>）</a:t>
            </a:r>
            <a:endParaRPr kumimoji="1" lang="en-US" altLang="zh-CN" dirty="0" smtClean="0"/>
          </a:p>
          <a:p>
            <a:r>
              <a:rPr kumimoji="1" lang="en-US" altLang="zh-CN" dirty="0"/>
              <a:t>【</a:t>
            </a:r>
            <a:r>
              <a:rPr kumimoji="1" lang="zh-CN" altLang="en-US" dirty="0"/>
              <a:t>新建</a:t>
            </a:r>
            <a:r>
              <a:rPr kumimoji="1" lang="en-US" altLang="zh-CN" dirty="0"/>
              <a:t>】—</a:t>
            </a:r>
            <a:r>
              <a:rPr kumimoji="1" lang="zh-CN" altLang="en-US" dirty="0"/>
              <a:t>选择记录类型（默认：合一询单）</a:t>
            </a:r>
            <a:r>
              <a:rPr kumimoji="1" lang="en-US" altLang="zh-CN" dirty="0" smtClean="0"/>
              <a:t>—【</a:t>
            </a:r>
            <a:r>
              <a:rPr kumimoji="1" lang="zh-CN" altLang="en-US" dirty="0"/>
              <a:t>下一步</a:t>
            </a:r>
            <a:r>
              <a:rPr kumimoji="1" lang="en-US" altLang="zh-CN" dirty="0"/>
              <a:t>】</a:t>
            </a:r>
            <a:endParaRPr kumimoji="1" lang="en-US" altLang="zh-CN" dirty="0"/>
          </a:p>
          <a:p>
            <a:pPr indent="0"/>
            <a:endParaRPr kumimoji="1" lang="en-US" altLang="zh-CN" dirty="0" smtClean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" y="1441771"/>
            <a:ext cx="6403753" cy="21015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 smtClean="0"/>
              <a:t>03</a:t>
            </a:r>
            <a:r>
              <a:rPr kumimoji="1" lang="zh-CN" altLang="en-US" dirty="0" smtClean="0"/>
              <a:t>非标技术评审</a:t>
            </a:r>
            <a:endParaRPr kumimoji="1" lang="en-US" altLang="zh-CN" dirty="0"/>
          </a:p>
        </p:txBody>
      </p:sp>
      <p:sp>
        <p:nvSpPr>
          <p:cNvPr id="25" name="文本占位符 3"/>
          <p:cNvSpPr txBox="1"/>
          <p:nvPr/>
        </p:nvSpPr>
        <p:spPr>
          <a:xfrm>
            <a:off x="5128725" y="1064868"/>
            <a:ext cx="4385893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/>
              <a:t>第二步：新建商机</a:t>
            </a:r>
            <a:endParaRPr kumimoji="1" lang="zh-CN" altLang="en-US" dirty="0"/>
          </a:p>
        </p:txBody>
      </p:sp>
      <p:sp>
        <p:nvSpPr>
          <p:cNvPr id="26" name="内容占位符 6"/>
          <p:cNvSpPr txBox="1"/>
          <p:nvPr/>
        </p:nvSpPr>
        <p:spPr>
          <a:xfrm>
            <a:off x="5128725" y="1757760"/>
            <a:ext cx="6084277" cy="5007034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400" b="0" i="0" kern="120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客户名称</a:t>
            </a:r>
            <a:r>
              <a:rPr kumimoji="1" lang="en-US" altLang="zh-CN" dirty="0"/>
              <a:t>】</a:t>
            </a:r>
            <a:r>
              <a:rPr kumimoji="1" lang="zh-CN" altLang="en-US" dirty="0"/>
              <a:t>直接输入客户简称可显示客户名称进行选择，也可以点击放大镜，进行搜索客户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采购订单号</a:t>
            </a:r>
            <a:r>
              <a:rPr kumimoji="1" lang="en-US" altLang="zh-CN" dirty="0"/>
              <a:t>】</a:t>
            </a:r>
            <a:r>
              <a:rPr kumimoji="1" lang="zh-CN" altLang="en-US" dirty="0"/>
              <a:t>客户的采购订单号，有则维护，没有则放空</a:t>
            </a:r>
            <a:endParaRPr kumimoji="1" lang="zh-CN" altLang="en-US" dirty="0"/>
          </a:p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/>
              <a:t>商机名称</a:t>
            </a:r>
            <a:r>
              <a:rPr kumimoji="1" lang="en-US" altLang="zh-CN" dirty="0"/>
              <a:t>】</a:t>
            </a:r>
            <a:r>
              <a:rPr kumimoji="1" lang="zh-CN" altLang="en-US" dirty="0"/>
              <a:t>可备注询单的价格执行情况</a:t>
            </a:r>
            <a:endParaRPr kumimoji="1" lang="en-US" altLang="zh-CN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商机描述</a:t>
            </a:r>
            <a:r>
              <a:rPr kumimoji="1" lang="en-US" altLang="zh-CN" dirty="0"/>
              <a:t>】</a:t>
            </a:r>
            <a:r>
              <a:rPr kumimoji="1" lang="zh-CN" altLang="en-US" dirty="0"/>
              <a:t>可备注询单总价报备情况</a:t>
            </a:r>
            <a:endParaRPr kumimoji="1" lang="en-US" altLang="zh-CN" dirty="0"/>
          </a:p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 smtClean="0"/>
              <a:t>价格包含销售税</a:t>
            </a:r>
            <a:r>
              <a:rPr kumimoji="1" lang="en-US" altLang="zh-CN" dirty="0" smtClean="0"/>
              <a:t>】</a:t>
            </a:r>
            <a:r>
              <a:rPr kumimoji="1" lang="zh-CN" altLang="en-US" dirty="0" smtClean="0"/>
              <a:t>默认含税打勾，采用未税价则不勾选</a:t>
            </a:r>
            <a:endParaRPr kumimoji="1" lang="en-US" altLang="zh-CN" dirty="0" smtClean="0"/>
          </a:p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 smtClean="0"/>
              <a:t>是否自动拆单</a:t>
            </a:r>
            <a:r>
              <a:rPr kumimoji="1" lang="en-US" altLang="zh-CN" dirty="0" smtClean="0"/>
              <a:t>】</a:t>
            </a:r>
            <a:r>
              <a:rPr kumimoji="1" lang="zh-CN" altLang="en-US" dirty="0" smtClean="0"/>
              <a:t>默认“</a:t>
            </a:r>
            <a:r>
              <a:rPr kumimoji="1" lang="zh-CN" altLang="en-US" dirty="0"/>
              <a:t>否</a:t>
            </a:r>
            <a:r>
              <a:rPr kumimoji="1" lang="zh-CN" altLang="en-US" dirty="0" smtClean="0"/>
              <a:t>” ，需要拆单自行更改为“是”</a:t>
            </a:r>
            <a:endParaRPr kumimoji="1" lang="zh-CN" altLang="en-US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" y="1787024"/>
            <a:ext cx="5401692" cy="27761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 smtClean="0"/>
              <a:t>03</a:t>
            </a:r>
            <a:r>
              <a:rPr kumimoji="1" lang="zh-CN" altLang="en-US" dirty="0" smtClean="0"/>
              <a:t>非标技术评审</a:t>
            </a:r>
            <a:endParaRPr kumimoji="1" lang="en-US" altLang="zh-CN" dirty="0"/>
          </a:p>
        </p:txBody>
      </p:sp>
      <p:sp>
        <p:nvSpPr>
          <p:cNvPr id="25" name="文本占位符 3"/>
          <p:cNvSpPr txBox="1"/>
          <p:nvPr/>
        </p:nvSpPr>
        <p:spPr>
          <a:xfrm>
            <a:off x="5128725" y="1064868"/>
            <a:ext cx="4385893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/>
              <a:t>第二步：新建商机</a:t>
            </a:r>
            <a:endParaRPr kumimoji="1" lang="zh-CN" altLang="en-US" dirty="0"/>
          </a:p>
        </p:txBody>
      </p:sp>
      <p:sp>
        <p:nvSpPr>
          <p:cNvPr id="26" name="内容占位符 6"/>
          <p:cNvSpPr txBox="1"/>
          <p:nvPr/>
        </p:nvSpPr>
        <p:spPr>
          <a:xfrm>
            <a:off x="5128725" y="1574456"/>
            <a:ext cx="6084277" cy="5007034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400" b="0" i="0" kern="120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/>
              <a:t>类型</a:t>
            </a:r>
            <a:r>
              <a:rPr kumimoji="1" lang="en-US" altLang="zh-CN" dirty="0"/>
              <a:t>】</a:t>
            </a:r>
            <a:r>
              <a:rPr kumimoji="1" lang="zh-CN" altLang="en-US" dirty="0"/>
              <a:t>技术评审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合计询单报价类型</a:t>
            </a:r>
            <a:r>
              <a:rPr kumimoji="1" lang="en-US" altLang="zh-CN" dirty="0" smtClean="0"/>
              <a:t>】</a:t>
            </a:r>
            <a:r>
              <a:rPr kumimoji="1" lang="zh-CN" altLang="en-US" dirty="0" smtClean="0"/>
              <a:t>非标棒材报价</a:t>
            </a:r>
            <a:r>
              <a:rPr kumimoji="1" lang="zh-CN" altLang="en-US" dirty="0"/>
              <a:t>模板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报价有效期</a:t>
            </a:r>
            <a:r>
              <a:rPr kumimoji="1" lang="en-US" altLang="zh-CN" dirty="0"/>
              <a:t>】</a:t>
            </a:r>
            <a:r>
              <a:rPr kumimoji="1" lang="zh-CN" altLang="en-US" dirty="0"/>
              <a:t>默认一个月，如需延长或缩短，自行更改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要求装运日期</a:t>
            </a:r>
            <a:r>
              <a:rPr kumimoji="1" lang="en-US" altLang="zh-CN" dirty="0"/>
              <a:t>】</a:t>
            </a:r>
            <a:r>
              <a:rPr kumimoji="1" lang="zh-CN" altLang="en-US" dirty="0"/>
              <a:t>填写客户需求的真实交货日期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订单池</a:t>
            </a:r>
            <a:r>
              <a:rPr kumimoji="1" lang="en-US" altLang="zh-CN" dirty="0"/>
              <a:t>】</a:t>
            </a:r>
            <a:r>
              <a:rPr kumimoji="1" lang="zh-CN" altLang="en-US" dirty="0"/>
              <a:t>默认正常订单</a:t>
            </a:r>
            <a:r>
              <a:rPr kumimoji="1" lang="en-US" altLang="zh-CN" dirty="0"/>
              <a:t>-</a:t>
            </a:r>
            <a:r>
              <a:rPr kumimoji="1" lang="zh-CN" altLang="en-US" dirty="0"/>
              <a:t>直接交货，如有其他，自行更改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产品类型</a:t>
            </a:r>
            <a:r>
              <a:rPr kumimoji="1" lang="en-US" altLang="zh-CN" dirty="0"/>
              <a:t>】</a:t>
            </a:r>
            <a:r>
              <a:rPr kumimoji="1" lang="zh-CN" altLang="en-US" dirty="0"/>
              <a:t>改型新产品、全新新产品、</a:t>
            </a:r>
            <a:r>
              <a:rPr kumimoji="1" lang="zh-CN" altLang="en-US" dirty="0">
                <a:solidFill>
                  <a:srgbClr val="FF0000"/>
                </a:solidFill>
              </a:rPr>
              <a:t>非标</a:t>
            </a:r>
            <a:r>
              <a:rPr kumimoji="1" lang="zh-CN" altLang="en-US" dirty="0" smtClean="0">
                <a:solidFill>
                  <a:srgbClr val="FF0000"/>
                </a:solidFill>
              </a:rPr>
              <a:t>新产品</a:t>
            </a:r>
            <a:r>
              <a:rPr kumimoji="1" lang="zh-CN" altLang="en-US" dirty="0">
                <a:solidFill>
                  <a:srgbClr val="FF0000"/>
                </a:solidFill>
              </a:rPr>
              <a:t>（非</a:t>
            </a:r>
            <a:r>
              <a:rPr kumimoji="1" lang="zh-CN" altLang="en-US" dirty="0" smtClean="0">
                <a:solidFill>
                  <a:srgbClr val="FF0000"/>
                </a:solidFill>
              </a:rPr>
              <a:t>标专选）</a:t>
            </a:r>
            <a:endParaRPr kumimoji="1" lang="zh-CN" altLang="en-US" dirty="0">
              <a:solidFill>
                <a:srgbClr val="FF0000"/>
              </a:solidFill>
            </a:endParaRPr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产品线</a:t>
            </a:r>
            <a:r>
              <a:rPr kumimoji="1" lang="en-US" altLang="zh-CN" dirty="0"/>
              <a:t>】</a:t>
            </a:r>
            <a:r>
              <a:rPr kumimoji="1" lang="zh-CN" altLang="en-US" dirty="0"/>
              <a:t>通用行业、</a:t>
            </a:r>
            <a:r>
              <a:rPr kumimoji="1" lang="en-US" altLang="zh-CN" dirty="0"/>
              <a:t>PCB</a:t>
            </a:r>
            <a:r>
              <a:rPr kumimoji="1" lang="zh-CN" altLang="en-US" dirty="0"/>
              <a:t>行业、木工行业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规格数量</a:t>
            </a:r>
            <a:r>
              <a:rPr kumimoji="1" lang="en-US" altLang="zh-CN" dirty="0"/>
              <a:t>】</a:t>
            </a:r>
            <a:r>
              <a:rPr kumimoji="1" lang="zh-CN" altLang="en-US" dirty="0"/>
              <a:t>根据实际情况填写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客户收货地址</a:t>
            </a:r>
            <a:r>
              <a:rPr kumimoji="1" lang="en-US" altLang="zh-CN" dirty="0"/>
              <a:t>】</a:t>
            </a:r>
            <a:r>
              <a:rPr kumimoji="1" lang="zh-CN" altLang="en-US" dirty="0"/>
              <a:t>空值，保存后是客户主档的默认收货地址，如果有需要选择其他收货地址，点击放大机处，进行</a:t>
            </a:r>
            <a:r>
              <a:rPr kumimoji="1" lang="zh-CN" altLang="en-US" dirty="0" smtClean="0"/>
              <a:t>选择</a:t>
            </a:r>
            <a:endParaRPr kumimoji="1" lang="en-US" altLang="zh-CN" dirty="0" smtClean="0"/>
          </a:p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 smtClean="0"/>
              <a:t>保存</a:t>
            </a:r>
            <a:r>
              <a:rPr kumimoji="1" lang="en-US" altLang="zh-CN" dirty="0" smtClean="0"/>
              <a:t>】</a:t>
            </a:r>
            <a:endParaRPr kumimoji="1" lang="en-US" altLang="zh-CN" dirty="0" smtClean="0"/>
          </a:p>
          <a:p>
            <a:pPr indent="0"/>
            <a:endParaRPr kumimoji="1" lang="zh-CN" altLang="en-US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8" y="1762025"/>
            <a:ext cx="5040110" cy="29506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 smtClean="0"/>
              <a:t>03 </a:t>
            </a:r>
            <a:r>
              <a:rPr kumimoji="1" lang="zh-CN" altLang="en-US" dirty="0" smtClean="0"/>
              <a:t>非标技术</a:t>
            </a:r>
            <a:r>
              <a:rPr kumimoji="1" lang="zh-CN" altLang="en-US" dirty="0"/>
              <a:t>评审</a:t>
            </a:r>
            <a:endParaRPr kumimoji="1" lang="en-US" altLang="zh-CN" dirty="0"/>
          </a:p>
        </p:txBody>
      </p:sp>
      <p:sp>
        <p:nvSpPr>
          <p:cNvPr id="25" name="文本占位符 3"/>
          <p:cNvSpPr txBox="1"/>
          <p:nvPr/>
        </p:nvSpPr>
        <p:spPr>
          <a:xfrm>
            <a:off x="6915908" y="1465271"/>
            <a:ext cx="4385893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/>
              <a:t>第三步：商机</a:t>
            </a:r>
            <a:r>
              <a:rPr lang="zh-CN" altLang="zh-CN" dirty="0" smtClean="0"/>
              <a:t>询</a:t>
            </a:r>
            <a:r>
              <a:rPr lang="zh-CN" altLang="zh-CN" dirty="0"/>
              <a:t>单行信息创建</a:t>
            </a:r>
            <a:endParaRPr kumimoji="1" lang="zh-CN" altLang="en-US" dirty="0"/>
          </a:p>
        </p:txBody>
      </p:sp>
      <p:sp>
        <p:nvSpPr>
          <p:cNvPr id="26" name="内容占位符 6"/>
          <p:cNvSpPr txBox="1"/>
          <p:nvPr/>
        </p:nvSpPr>
        <p:spPr>
          <a:xfrm>
            <a:off x="6649461" y="2146141"/>
            <a:ext cx="4652340" cy="2561340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400" b="0" i="0" kern="120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/>
              <a:t>合一询单信息（报价）</a:t>
            </a:r>
            <a:r>
              <a:rPr kumimoji="1" lang="en-US" altLang="zh-CN" dirty="0" smtClean="0"/>
              <a:t>—【</a:t>
            </a:r>
            <a:r>
              <a:rPr kumimoji="1" lang="zh-CN" altLang="en-US" dirty="0" smtClean="0"/>
              <a:t>新建</a:t>
            </a:r>
            <a:r>
              <a:rPr kumimoji="1" lang="en-US" altLang="zh-CN" dirty="0" smtClean="0"/>
              <a:t>】</a:t>
            </a:r>
            <a:endParaRPr kumimoji="1" lang="en-US" altLang="zh-CN" dirty="0" smtClean="0"/>
          </a:p>
          <a:p>
            <a:endParaRPr kumimoji="1" lang="en-US" altLang="zh-CN" dirty="0" smtClean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" y="1230868"/>
            <a:ext cx="6429334" cy="217175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6811"/>
            <a:ext cx="6430129" cy="26303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 smtClean="0"/>
              <a:t>03</a:t>
            </a:r>
            <a:r>
              <a:rPr kumimoji="1" lang="zh-CN" altLang="en-US" dirty="0" smtClean="0"/>
              <a:t>非标技术评审</a:t>
            </a:r>
            <a:endParaRPr kumimoji="1" lang="en-US" altLang="zh-CN" dirty="0"/>
          </a:p>
        </p:txBody>
      </p:sp>
      <p:sp>
        <p:nvSpPr>
          <p:cNvPr id="25" name="文本占位符 3"/>
          <p:cNvSpPr txBox="1"/>
          <p:nvPr/>
        </p:nvSpPr>
        <p:spPr>
          <a:xfrm>
            <a:off x="5128725" y="1064868"/>
            <a:ext cx="4385893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/>
              <a:t>第三</a:t>
            </a:r>
            <a:r>
              <a:rPr kumimoji="1" lang="zh-CN" altLang="en-US" dirty="0"/>
              <a:t>步：商机</a:t>
            </a:r>
            <a:r>
              <a:rPr lang="zh-CN" altLang="zh-CN" dirty="0"/>
              <a:t>询单行信息创建</a:t>
            </a:r>
            <a:endParaRPr kumimoji="1" lang="zh-CN" altLang="en-US" dirty="0"/>
          </a:p>
        </p:txBody>
      </p:sp>
      <p:sp>
        <p:nvSpPr>
          <p:cNvPr id="26" name="内容占位符 6"/>
          <p:cNvSpPr txBox="1"/>
          <p:nvPr/>
        </p:nvSpPr>
        <p:spPr>
          <a:xfrm>
            <a:off x="5209150" y="1574456"/>
            <a:ext cx="6084277" cy="5007034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400" b="0" i="0" kern="120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/>
              <a:t>报价类型</a:t>
            </a:r>
            <a:r>
              <a:rPr kumimoji="1" lang="en-US" altLang="zh-CN" dirty="0" smtClean="0"/>
              <a:t>】</a:t>
            </a:r>
            <a:r>
              <a:rPr kumimoji="1" lang="zh-CN" altLang="en-US" dirty="0" smtClean="0"/>
              <a:t>非标棒材报价</a:t>
            </a:r>
            <a:r>
              <a:rPr kumimoji="1" lang="zh-CN" altLang="en-US" dirty="0"/>
              <a:t>模板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物料名称</a:t>
            </a:r>
            <a:r>
              <a:rPr kumimoji="1" lang="en-US" altLang="zh-CN" dirty="0"/>
              <a:t>】</a:t>
            </a:r>
            <a:r>
              <a:rPr kumimoji="1" lang="zh-CN" altLang="en-US" dirty="0"/>
              <a:t>输入产品名称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规格型号</a:t>
            </a:r>
            <a:r>
              <a:rPr kumimoji="1" lang="en-US" altLang="zh-CN" dirty="0"/>
              <a:t>】</a:t>
            </a:r>
            <a:r>
              <a:rPr kumimoji="1" lang="zh-CN" altLang="en-US" dirty="0"/>
              <a:t>填写规格名称，可以与物料名称一致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牌号</a:t>
            </a:r>
            <a:r>
              <a:rPr kumimoji="1" lang="en-US" altLang="zh-CN" dirty="0"/>
              <a:t>】</a:t>
            </a:r>
            <a:r>
              <a:rPr kumimoji="1" lang="zh-CN" altLang="en-US" dirty="0"/>
              <a:t>选择询单的牌号        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数量</a:t>
            </a:r>
            <a:r>
              <a:rPr kumimoji="1" lang="en-US" altLang="zh-CN" dirty="0"/>
              <a:t>】</a:t>
            </a:r>
            <a:r>
              <a:rPr kumimoji="1" lang="zh-CN" altLang="en-US" dirty="0"/>
              <a:t>客户询单数量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产品详细描述</a:t>
            </a:r>
            <a:r>
              <a:rPr kumimoji="1" lang="en-US" altLang="zh-CN" dirty="0"/>
              <a:t>】</a:t>
            </a:r>
            <a:r>
              <a:rPr kumimoji="1" lang="zh-CN" altLang="en-US" dirty="0"/>
              <a:t>产品的质量、公差、预计年需求量、预期毛利率、如果是精磨的话，精度也要提起填写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产品状态</a:t>
            </a:r>
            <a:r>
              <a:rPr kumimoji="1" lang="en-US" altLang="zh-CN" dirty="0"/>
              <a:t>】</a:t>
            </a:r>
            <a:r>
              <a:rPr kumimoji="1" lang="zh-CN" altLang="en-US" dirty="0"/>
              <a:t>选择填写精磨</a:t>
            </a:r>
            <a:r>
              <a:rPr kumimoji="1" lang="en-US" altLang="zh-CN" dirty="0"/>
              <a:t>/</a:t>
            </a:r>
            <a:r>
              <a:rPr kumimoji="1" lang="zh-CN" altLang="en-US" dirty="0"/>
              <a:t>毛坯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客户采购单号</a:t>
            </a:r>
            <a:r>
              <a:rPr kumimoji="1" lang="en-US" altLang="zh-CN" dirty="0"/>
              <a:t>】</a:t>
            </a:r>
            <a:r>
              <a:rPr kumimoji="1" lang="zh-CN" altLang="en-US" dirty="0"/>
              <a:t>客户的采购订单号，有则维护，无则放空</a:t>
            </a:r>
            <a:endParaRPr kumimoji="1" lang="zh-CN" altLang="en-US" dirty="0"/>
          </a:p>
          <a:p>
            <a:pPr indent="0"/>
            <a:endParaRPr kumimoji="1" lang="en-US" altLang="zh-CN" dirty="0" smtClean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74" y="1698125"/>
            <a:ext cx="5381829" cy="29266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 smtClean="0"/>
              <a:t>03</a:t>
            </a:r>
            <a:r>
              <a:rPr kumimoji="1" lang="zh-CN" altLang="en-US" dirty="0" smtClean="0"/>
              <a:t>非标技术评审</a:t>
            </a:r>
            <a:endParaRPr kumimoji="1" lang="en-US" altLang="zh-CN" dirty="0"/>
          </a:p>
        </p:txBody>
      </p:sp>
      <p:sp>
        <p:nvSpPr>
          <p:cNvPr id="25" name="文本占位符 3"/>
          <p:cNvSpPr txBox="1"/>
          <p:nvPr/>
        </p:nvSpPr>
        <p:spPr>
          <a:xfrm>
            <a:off x="5128725" y="1064868"/>
            <a:ext cx="4385893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/>
              <a:t>第三</a:t>
            </a:r>
            <a:r>
              <a:rPr kumimoji="1" lang="zh-CN" altLang="en-US" dirty="0"/>
              <a:t>步：商机</a:t>
            </a:r>
            <a:r>
              <a:rPr lang="zh-CN" altLang="zh-CN" dirty="0"/>
              <a:t>询单行信息创建</a:t>
            </a:r>
            <a:endParaRPr kumimoji="1" lang="zh-CN" altLang="en-US" dirty="0"/>
          </a:p>
        </p:txBody>
      </p:sp>
      <p:sp>
        <p:nvSpPr>
          <p:cNvPr id="26" name="内容占位符 6"/>
          <p:cNvSpPr txBox="1"/>
          <p:nvPr/>
        </p:nvSpPr>
        <p:spPr>
          <a:xfrm>
            <a:off x="5349826" y="1574456"/>
            <a:ext cx="6084277" cy="5007034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400" b="0" i="0" kern="120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 smtClean="0"/>
              <a:t>毛利率</a:t>
            </a:r>
            <a:r>
              <a:rPr kumimoji="1" lang="en-US" altLang="zh-CN" dirty="0" smtClean="0"/>
              <a:t>】</a:t>
            </a:r>
            <a:r>
              <a:rPr kumimoji="1" lang="zh-CN" altLang="en-US" dirty="0" smtClean="0"/>
              <a:t>默认</a:t>
            </a:r>
            <a:r>
              <a:rPr kumimoji="1" lang="en-US" altLang="zh-CN" dirty="0" smtClean="0"/>
              <a:t>30%</a:t>
            </a:r>
            <a:r>
              <a:rPr kumimoji="1" lang="zh-CN" altLang="en-US" dirty="0" smtClean="0"/>
              <a:t>，可通过修改确认价格</a:t>
            </a:r>
            <a:endParaRPr kumimoji="1" lang="zh-CN" altLang="en-US" dirty="0"/>
          </a:p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 smtClean="0"/>
              <a:t>加工费</a:t>
            </a:r>
            <a:r>
              <a:rPr kumimoji="1" lang="en-US" altLang="zh-CN" dirty="0" smtClean="0"/>
              <a:t>】</a:t>
            </a:r>
            <a:r>
              <a:rPr kumimoji="1" lang="zh-CN" altLang="en-US" dirty="0" smtClean="0"/>
              <a:t>由技术评审员填写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技术指标参数</a:t>
            </a:r>
            <a:r>
              <a:rPr kumimoji="1" lang="en-US" altLang="zh-CN" dirty="0"/>
              <a:t>】</a:t>
            </a:r>
            <a:r>
              <a:rPr kumimoji="1" lang="zh-CN" altLang="en-US" dirty="0"/>
              <a:t>直径、长度为必填项，宽度则是板条才需要填写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物料价格组</a:t>
            </a:r>
            <a:r>
              <a:rPr kumimoji="1" lang="en-US" altLang="zh-CN" dirty="0"/>
              <a:t>】</a:t>
            </a:r>
            <a:r>
              <a:rPr kumimoji="1" lang="zh-CN" altLang="en-US" dirty="0"/>
              <a:t>按照产品类别进行选择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要求装运日期</a:t>
            </a:r>
            <a:r>
              <a:rPr kumimoji="1" lang="en-US" altLang="zh-CN" dirty="0"/>
              <a:t>】</a:t>
            </a:r>
            <a:r>
              <a:rPr kumimoji="1" lang="zh-CN" altLang="en-US" dirty="0"/>
              <a:t>默认是带头部选择的信息，如果每一行的要求装运日期不同，那么自行修改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客户确认交期备注</a:t>
            </a:r>
            <a:r>
              <a:rPr kumimoji="1" lang="en-US" altLang="zh-CN" dirty="0"/>
              <a:t>】</a:t>
            </a:r>
            <a:r>
              <a:rPr kumimoji="1" lang="zh-CN" altLang="en-US" dirty="0"/>
              <a:t>如果客户期望的交期是急单的，如实填写要求装运日期，可在此处备注下重要程度等信息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是否急单</a:t>
            </a:r>
            <a:r>
              <a:rPr kumimoji="1" lang="en-US" altLang="zh-CN" dirty="0"/>
              <a:t>】</a:t>
            </a:r>
            <a:r>
              <a:rPr kumimoji="1" lang="zh-CN" altLang="en-US" dirty="0"/>
              <a:t>默认“否”</a:t>
            </a:r>
            <a:r>
              <a:rPr kumimoji="1" lang="zh-CN" altLang="en-US" dirty="0" smtClean="0"/>
              <a:t>，非标类型，该字段不允许更改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保存并新建</a:t>
            </a:r>
            <a:r>
              <a:rPr kumimoji="1" lang="en-US" altLang="zh-CN" dirty="0"/>
              <a:t>】</a:t>
            </a:r>
            <a:r>
              <a:rPr kumimoji="1" lang="zh-CN" altLang="en-US" dirty="0"/>
              <a:t>如果询单是多行的话，那么点击保存并新建，就可以继续新建规格，重复操作；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保存</a:t>
            </a:r>
            <a:r>
              <a:rPr kumimoji="1" lang="en-US" altLang="zh-CN" dirty="0"/>
              <a:t>】</a:t>
            </a:r>
            <a:r>
              <a:rPr kumimoji="1" lang="zh-CN" altLang="en-US" dirty="0"/>
              <a:t>询单已经是最后一行，不需要再新建，那么就点保存</a:t>
            </a:r>
            <a:r>
              <a:rPr kumimoji="1" lang="zh-CN" altLang="en-US" dirty="0" smtClean="0"/>
              <a:t>。</a:t>
            </a:r>
            <a:endParaRPr kumimoji="1" lang="en-US" altLang="zh-CN" dirty="0" smtClean="0"/>
          </a:p>
          <a:p>
            <a:pPr indent="0"/>
            <a:r>
              <a:rPr kumimoji="1" lang="zh-CN" altLang="en-US" dirty="0"/>
              <a:t>备注：非标急单，</a:t>
            </a:r>
            <a:r>
              <a:rPr kumimoji="1" lang="en-US" altLang="zh-CN" dirty="0"/>
              <a:t>【</a:t>
            </a:r>
            <a:r>
              <a:rPr kumimoji="1" lang="zh-CN" altLang="en-US" dirty="0"/>
              <a:t>客户要求装运日期</a:t>
            </a:r>
            <a:r>
              <a:rPr kumimoji="1" lang="en-US" altLang="zh-CN" dirty="0"/>
              <a:t>】</a:t>
            </a:r>
            <a:r>
              <a:rPr kumimoji="1" lang="zh-CN" altLang="en-US" dirty="0"/>
              <a:t>填写真实交期并在</a:t>
            </a:r>
            <a:r>
              <a:rPr lang="en-US" altLang="zh-CN" dirty="0"/>
              <a:t>【</a:t>
            </a:r>
            <a:r>
              <a:rPr lang="zh-CN" altLang="en-US" dirty="0"/>
              <a:t>客户期望交期备注</a:t>
            </a:r>
            <a:r>
              <a:rPr lang="en-US" altLang="zh-CN" dirty="0"/>
              <a:t>】</a:t>
            </a:r>
            <a:r>
              <a:rPr lang="zh-CN" altLang="en-US" dirty="0"/>
              <a:t>字段备注：客户真实需求交期，对应产线生管看到后，会根据所填写的内容一起评估。</a:t>
            </a:r>
            <a:endParaRPr kumimoji="1" lang="zh-CN" altLang="en-US" dirty="0"/>
          </a:p>
          <a:p>
            <a:pPr indent="0"/>
            <a:endParaRPr kumimoji="1" lang="zh-CN" altLang="en-US" dirty="0"/>
          </a:p>
          <a:p>
            <a:pPr indent="0"/>
            <a:endParaRPr kumimoji="1" lang="en-US" altLang="zh-CN" dirty="0" smtClean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4868"/>
            <a:ext cx="5036657" cy="246133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31406"/>
            <a:ext cx="5035862" cy="29487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 smtClean="0"/>
              <a:t>03</a:t>
            </a:r>
            <a:r>
              <a:rPr kumimoji="1" lang="zh-CN" altLang="en-US" dirty="0" smtClean="0"/>
              <a:t>非标技术评审</a:t>
            </a:r>
            <a:endParaRPr kumimoji="1" lang="en-US" altLang="zh-CN" dirty="0"/>
          </a:p>
        </p:txBody>
      </p:sp>
      <p:sp>
        <p:nvSpPr>
          <p:cNvPr id="25" name="文本占位符 3"/>
          <p:cNvSpPr txBox="1"/>
          <p:nvPr/>
        </p:nvSpPr>
        <p:spPr>
          <a:xfrm>
            <a:off x="5128725" y="1064868"/>
            <a:ext cx="4385893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/>
              <a:t>第四步：图纸上传下载</a:t>
            </a:r>
            <a:endParaRPr kumimoji="1" lang="zh-CN" altLang="en-US" dirty="0"/>
          </a:p>
        </p:txBody>
      </p:sp>
      <p:sp>
        <p:nvSpPr>
          <p:cNvPr id="26" name="内容占位符 6"/>
          <p:cNvSpPr txBox="1"/>
          <p:nvPr/>
        </p:nvSpPr>
        <p:spPr>
          <a:xfrm>
            <a:off x="5349826" y="1645159"/>
            <a:ext cx="6084277" cy="5120970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400" b="0" i="0" kern="120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/>
            <a:r>
              <a:rPr kumimoji="1" lang="zh-CN" altLang="en-US" dirty="0" smtClean="0"/>
              <a:t>编辑商机</a:t>
            </a:r>
            <a:r>
              <a:rPr kumimoji="1" lang="zh-CN" altLang="en-US" dirty="0"/>
              <a:t>：</a:t>
            </a:r>
            <a:endParaRPr kumimoji="1" lang="en-US" altLang="zh-CN" dirty="0" smtClean="0"/>
          </a:p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 smtClean="0"/>
              <a:t>客户提供图纸</a:t>
            </a:r>
            <a:r>
              <a:rPr kumimoji="1" lang="en-US" altLang="zh-CN" dirty="0" smtClean="0"/>
              <a:t>】</a:t>
            </a:r>
            <a:r>
              <a:rPr kumimoji="1" lang="zh-CN" altLang="en-US" dirty="0" smtClean="0"/>
              <a:t>上传客户图纸</a:t>
            </a:r>
            <a:endParaRPr kumimoji="1" lang="en-US" altLang="zh-CN" dirty="0" smtClean="0"/>
          </a:p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 smtClean="0"/>
              <a:t>我司提供图纸</a:t>
            </a:r>
            <a:r>
              <a:rPr kumimoji="1" lang="en-US" altLang="zh-CN" dirty="0" smtClean="0"/>
              <a:t>】</a:t>
            </a:r>
            <a:r>
              <a:rPr kumimoji="1" lang="zh-CN" altLang="en-US" dirty="0" smtClean="0"/>
              <a:t>由技术评审员画图上传后，可下载发给客户确认</a:t>
            </a:r>
            <a:endParaRPr kumimoji="1" lang="en-US" altLang="zh-CN" dirty="0" smtClean="0"/>
          </a:p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 smtClean="0"/>
              <a:t>客户确认我司图纸</a:t>
            </a:r>
            <a:r>
              <a:rPr kumimoji="1" lang="en-US" altLang="zh-CN" dirty="0" smtClean="0"/>
              <a:t>】</a:t>
            </a:r>
            <a:r>
              <a:rPr kumimoji="1" lang="zh-CN" altLang="en-US" dirty="0" smtClean="0"/>
              <a:t>我司图纸发给客户确认后盖章上传</a:t>
            </a:r>
            <a:endParaRPr kumimoji="1" lang="en-US" altLang="zh-CN" dirty="0" smtClean="0"/>
          </a:p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/>
              <a:t>保存</a:t>
            </a:r>
            <a:r>
              <a:rPr kumimoji="1" lang="en-US" altLang="zh-CN" dirty="0" smtClean="0"/>
              <a:t>】</a:t>
            </a:r>
            <a:r>
              <a:rPr kumimoji="1" lang="zh-CN" altLang="en-US" dirty="0" smtClean="0"/>
              <a:t>图纸上传后，保存</a:t>
            </a:r>
            <a:endParaRPr kumimoji="1" lang="zh-CN" altLang="en-US" dirty="0"/>
          </a:p>
          <a:p>
            <a:pPr indent="0"/>
            <a:endParaRPr kumimoji="1" lang="en-US" altLang="zh-CN" dirty="0" smtClean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" y="1645159"/>
            <a:ext cx="5540099" cy="32433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 smtClean="0"/>
              <a:t>03 </a:t>
            </a:r>
            <a:r>
              <a:rPr kumimoji="1" lang="zh-CN" altLang="en-US" dirty="0" smtClean="0"/>
              <a:t>非标技术评审</a:t>
            </a:r>
            <a:endParaRPr kumimoji="1" lang="en-US" altLang="zh-CN" dirty="0"/>
          </a:p>
        </p:txBody>
      </p:sp>
      <p:sp>
        <p:nvSpPr>
          <p:cNvPr id="25" name="文本占位符 3"/>
          <p:cNvSpPr txBox="1"/>
          <p:nvPr/>
        </p:nvSpPr>
        <p:spPr>
          <a:xfrm>
            <a:off x="714604" y="1183691"/>
            <a:ext cx="4385893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/>
              <a:t>第五步：</a:t>
            </a:r>
            <a:r>
              <a:rPr lang="zh-CN" altLang="zh-CN" dirty="0"/>
              <a:t>价格计算</a:t>
            </a:r>
            <a:endParaRPr kumimoji="1" lang="zh-CN" altLang="en-US" dirty="0"/>
          </a:p>
        </p:txBody>
      </p:sp>
      <p:sp>
        <p:nvSpPr>
          <p:cNvPr id="26" name="内容占位符 6"/>
          <p:cNvSpPr txBox="1"/>
          <p:nvPr/>
        </p:nvSpPr>
        <p:spPr>
          <a:xfrm>
            <a:off x="300709" y="1601165"/>
            <a:ext cx="11218985" cy="1173344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400" b="0" i="0" kern="120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合一价格计算</a:t>
            </a:r>
            <a:r>
              <a:rPr kumimoji="1" lang="en-US" altLang="zh-CN" dirty="0"/>
              <a:t>】</a:t>
            </a:r>
            <a:r>
              <a:rPr kumimoji="1" lang="zh-CN" altLang="en-US" dirty="0"/>
              <a:t>如果是走牌价的信息，价格会算出来；如果不是牌价信息，那么手动在实际价格处填写该规格的价格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合一交期计算</a:t>
            </a:r>
            <a:r>
              <a:rPr kumimoji="1" lang="en-US" altLang="zh-CN" dirty="0"/>
              <a:t>】</a:t>
            </a:r>
            <a:r>
              <a:rPr kumimoji="1" lang="zh-CN" altLang="en-US" dirty="0"/>
              <a:t>技术评审没有技术线，无法测算交期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提交待审批</a:t>
            </a:r>
            <a:r>
              <a:rPr kumimoji="1" lang="en-US" altLang="zh-CN" dirty="0"/>
              <a:t>】</a:t>
            </a:r>
            <a:r>
              <a:rPr kumimoji="1" lang="zh-CN" altLang="en-US" dirty="0"/>
              <a:t>检查无误后提交审批，流程会先到研发部产品评审员处评审</a:t>
            </a:r>
            <a:endParaRPr kumimoji="1" lang="zh-CN" altLang="en-US" dirty="0"/>
          </a:p>
          <a:p>
            <a:pPr indent="0"/>
            <a:endParaRPr kumimoji="1" lang="en-US" altLang="zh-CN" dirty="0" smtClean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604" y="2774509"/>
            <a:ext cx="9064144" cy="30159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 smtClean="0"/>
              <a:t>03 </a:t>
            </a:r>
            <a:r>
              <a:rPr kumimoji="1" lang="zh-CN" altLang="en-US" dirty="0" smtClean="0"/>
              <a:t>非标技术评审</a:t>
            </a:r>
            <a:endParaRPr kumimoji="1" lang="en-US" altLang="zh-CN" dirty="0"/>
          </a:p>
        </p:txBody>
      </p:sp>
      <p:sp>
        <p:nvSpPr>
          <p:cNvPr id="25" name="文本占位符 3"/>
          <p:cNvSpPr txBox="1"/>
          <p:nvPr/>
        </p:nvSpPr>
        <p:spPr>
          <a:xfrm>
            <a:off x="6690627" y="1183691"/>
            <a:ext cx="4385893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/>
              <a:t>第六步：</a:t>
            </a:r>
            <a:r>
              <a:rPr lang="zh-CN" altLang="en-US" dirty="0" smtClean="0"/>
              <a:t>审批流</a:t>
            </a:r>
            <a:endParaRPr kumimoji="1" lang="zh-CN" altLang="en-US" dirty="0"/>
          </a:p>
        </p:txBody>
      </p:sp>
      <p:sp>
        <p:nvSpPr>
          <p:cNvPr id="26" name="内容占位符 6"/>
          <p:cNvSpPr txBox="1"/>
          <p:nvPr/>
        </p:nvSpPr>
        <p:spPr>
          <a:xfrm>
            <a:off x="6520334" y="1972280"/>
            <a:ext cx="4999360" cy="3568712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400" b="0" i="0" kern="120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/>
            <a:r>
              <a:rPr kumimoji="1" lang="zh-CN" altLang="en-US" dirty="0" smtClean="0"/>
              <a:t>提交后，审批流为：非标技术评审</a:t>
            </a:r>
            <a:r>
              <a:rPr kumimoji="1" lang="en-US" altLang="zh-CN" dirty="0" smtClean="0"/>
              <a:t>—</a:t>
            </a:r>
            <a:r>
              <a:rPr kumimoji="1" lang="zh-CN" altLang="en-US" dirty="0" smtClean="0"/>
              <a:t>非标棒材制造部经理</a:t>
            </a:r>
            <a:r>
              <a:rPr kumimoji="1" lang="en-US" altLang="zh-CN" dirty="0" smtClean="0"/>
              <a:t>—</a:t>
            </a:r>
            <a:r>
              <a:rPr kumimoji="1" lang="zh-CN" altLang="en-US" dirty="0" smtClean="0"/>
              <a:t>业务确认</a:t>
            </a:r>
            <a:r>
              <a:rPr kumimoji="1" lang="en-US" altLang="zh-CN" dirty="0" smtClean="0"/>
              <a:t>—</a:t>
            </a:r>
            <a:r>
              <a:rPr kumimoji="1" lang="zh-CN" altLang="en-US" dirty="0" smtClean="0"/>
              <a:t>生管审批</a:t>
            </a:r>
            <a:r>
              <a:rPr kumimoji="1" lang="en-US" altLang="zh-CN" dirty="0" smtClean="0"/>
              <a:t>—</a:t>
            </a:r>
            <a:r>
              <a:rPr kumimoji="1" lang="zh-CN" altLang="en-US" dirty="0" smtClean="0"/>
              <a:t>价格审批</a:t>
            </a:r>
            <a:endParaRPr kumimoji="1" lang="en-US" altLang="zh-CN" dirty="0" smtClean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" y="1763091"/>
            <a:ext cx="6552438" cy="35123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 smtClean="0"/>
              <a:t>03 </a:t>
            </a:r>
            <a:r>
              <a:rPr kumimoji="1" lang="zh-CN" altLang="en-US" dirty="0" smtClean="0"/>
              <a:t>非标技术评审</a:t>
            </a:r>
            <a:endParaRPr kumimoji="1" lang="en-US" altLang="zh-CN" dirty="0"/>
          </a:p>
        </p:txBody>
      </p:sp>
      <p:sp>
        <p:nvSpPr>
          <p:cNvPr id="25" name="文本占位符 3"/>
          <p:cNvSpPr txBox="1"/>
          <p:nvPr/>
        </p:nvSpPr>
        <p:spPr>
          <a:xfrm>
            <a:off x="6690627" y="1183691"/>
            <a:ext cx="4385893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/>
              <a:t>第七步：</a:t>
            </a:r>
            <a:r>
              <a:rPr lang="zh-CN" altLang="en-US" dirty="0" smtClean="0"/>
              <a:t>物料编码申请</a:t>
            </a:r>
            <a:endParaRPr kumimoji="1" lang="zh-CN" altLang="en-US" dirty="0"/>
          </a:p>
        </p:txBody>
      </p:sp>
      <p:sp>
        <p:nvSpPr>
          <p:cNvPr id="26" name="内容占位符 6"/>
          <p:cNvSpPr txBox="1"/>
          <p:nvPr/>
        </p:nvSpPr>
        <p:spPr>
          <a:xfrm>
            <a:off x="6341894" y="1939914"/>
            <a:ext cx="4999360" cy="3568712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400" b="0" i="0" kern="120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/>
            <a:r>
              <a:rPr kumimoji="1" lang="zh-CN" altLang="en-US" dirty="0"/>
              <a:t>如果确认该规格客户要下单</a:t>
            </a:r>
            <a:r>
              <a:rPr kumimoji="1" lang="zh-CN" altLang="en-US" dirty="0" smtClean="0"/>
              <a:t>，进入</a:t>
            </a:r>
            <a:r>
              <a:rPr kumimoji="1" lang="en-US" altLang="zh-CN" dirty="0"/>
              <a:t>【</a:t>
            </a:r>
            <a:r>
              <a:rPr kumimoji="1" lang="zh-CN" altLang="en-US" dirty="0"/>
              <a:t>批量编辑</a:t>
            </a:r>
            <a:r>
              <a:rPr kumimoji="1" lang="en-US" altLang="zh-CN" dirty="0"/>
              <a:t>】</a:t>
            </a:r>
            <a:r>
              <a:rPr kumimoji="1" lang="zh-CN" altLang="en-US" dirty="0"/>
              <a:t>是否转单选择“是”</a:t>
            </a:r>
            <a:r>
              <a:rPr kumimoji="1" lang="zh-CN" altLang="en-US" dirty="0" smtClean="0"/>
              <a:t>保存；</a:t>
            </a:r>
            <a:endParaRPr kumimoji="1" lang="en-US" altLang="zh-CN" dirty="0" smtClean="0"/>
          </a:p>
          <a:p>
            <a:pPr indent="0"/>
            <a:r>
              <a:rPr kumimoji="1" lang="zh-CN" altLang="en-US" dirty="0" smtClean="0"/>
              <a:t>点击</a:t>
            </a:r>
            <a:r>
              <a:rPr kumimoji="1" lang="en-US" altLang="zh-CN" dirty="0"/>
              <a:t>【</a:t>
            </a:r>
            <a:r>
              <a:rPr kumimoji="1" lang="zh-CN" altLang="en-US" dirty="0"/>
              <a:t>合一物料编码申请</a:t>
            </a:r>
            <a:r>
              <a:rPr kumimoji="1" lang="en-US" altLang="zh-CN" dirty="0"/>
              <a:t>】</a:t>
            </a:r>
            <a:r>
              <a:rPr kumimoji="1" lang="zh-CN" altLang="en-US" dirty="0"/>
              <a:t>自动生成物料编码申请单号，流程流转到</a:t>
            </a:r>
            <a:r>
              <a:rPr kumimoji="1" lang="en-US" altLang="zh-CN" dirty="0"/>
              <a:t>ERP</a:t>
            </a:r>
            <a:r>
              <a:rPr kumimoji="1" lang="zh-CN" altLang="en-US" dirty="0"/>
              <a:t>处，等产品评审员编写完编码后，编码会自动回写到</a:t>
            </a:r>
            <a:r>
              <a:rPr kumimoji="1" lang="en-US" altLang="zh-CN" dirty="0"/>
              <a:t>CRM</a:t>
            </a:r>
            <a:r>
              <a:rPr kumimoji="1" lang="zh-CN" altLang="en-US" dirty="0"/>
              <a:t>系统。</a:t>
            </a:r>
            <a:endParaRPr kumimoji="1" lang="en-US" altLang="zh-CN" dirty="0" smtClean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105" y="1064868"/>
            <a:ext cx="6373999" cy="290925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105" y="4059500"/>
            <a:ext cx="6455420" cy="18174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 smtClean="0"/>
              <a:t>03 </a:t>
            </a:r>
            <a:r>
              <a:rPr kumimoji="1" lang="zh-CN" altLang="en-US" dirty="0" smtClean="0"/>
              <a:t>非标技术评审</a:t>
            </a:r>
            <a:endParaRPr kumimoji="1" lang="en-US" altLang="zh-CN" dirty="0"/>
          </a:p>
        </p:txBody>
      </p:sp>
      <p:sp>
        <p:nvSpPr>
          <p:cNvPr id="25" name="文本占位符 3"/>
          <p:cNvSpPr txBox="1"/>
          <p:nvPr/>
        </p:nvSpPr>
        <p:spPr>
          <a:xfrm>
            <a:off x="6827985" y="1107575"/>
            <a:ext cx="4385893" cy="319088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4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/>
              <a:t>第八步：商机转订单</a:t>
            </a:r>
            <a:endParaRPr kumimoji="1" lang="zh-CN" altLang="en-US" dirty="0"/>
          </a:p>
        </p:txBody>
      </p:sp>
      <p:sp>
        <p:nvSpPr>
          <p:cNvPr id="26" name="内容占位符 6"/>
          <p:cNvSpPr txBox="1"/>
          <p:nvPr/>
        </p:nvSpPr>
        <p:spPr>
          <a:xfrm>
            <a:off x="6304955" y="1473141"/>
            <a:ext cx="5019538" cy="4672682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400" b="0" i="0" kern="120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/>
            <a:endParaRPr kumimoji="1" lang="en-US" altLang="zh-CN" dirty="0" smtClean="0"/>
          </a:p>
          <a:p>
            <a:pPr indent="0"/>
            <a:r>
              <a:rPr kumimoji="1" lang="zh-CN" altLang="en-US" dirty="0" smtClean="0"/>
              <a:t>物料编码生成后，选择 合一</a:t>
            </a:r>
            <a:r>
              <a:rPr kumimoji="1" lang="zh-CN" altLang="en-US" dirty="0"/>
              <a:t>商机转订单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是否生成新订单</a:t>
            </a:r>
            <a:r>
              <a:rPr kumimoji="1" lang="en-US" altLang="zh-CN" dirty="0"/>
              <a:t>】</a:t>
            </a:r>
            <a:r>
              <a:rPr kumimoji="1" lang="zh-CN" altLang="en-US" dirty="0"/>
              <a:t>：如果商机里所有的行，要生成多个订单，那么选择“是”，反之选择“否”；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是否生成贸易协议</a:t>
            </a:r>
            <a:r>
              <a:rPr kumimoji="1" lang="en-US" altLang="zh-CN" dirty="0"/>
              <a:t>】</a:t>
            </a:r>
            <a:r>
              <a:rPr kumimoji="1" lang="zh-CN" altLang="en-US" dirty="0"/>
              <a:t>如果该询单规格，价格均不是牌价，可以选择“是”那么下次询单下同个规格，在有效期内就能自动审批价格了；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是否关闭询单</a:t>
            </a:r>
            <a:r>
              <a:rPr kumimoji="1" lang="en-US" altLang="zh-CN" dirty="0"/>
              <a:t>】</a:t>
            </a:r>
            <a:r>
              <a:rPr kumimoji="1" lang="zh-CN" altLang="en-US" dirty="0"/>
              <a:t>默认是“否”，但是如果整个询单都处理完毕，则改为“是”，反之则“否”；</a:t>
            </a:r>
            <a:endParaRPr kumimoji="1" lang="zh-CN" altLang="en-US" dirty="0"/>
          </a:p>
          <a:p>
            <a:pPr indent="0"/>
            <a:r>
              <a:rPr kumimoji="1" lang="en-US" altLang="zh-CN" dirty="0"/>
              <a:t>【</a:t>
            </a:r>
            <a:r>
              <a:rPr kumimoji="1" lang="zh-CN" altLang="en-US" dirty="0"/>
              <a:t>确定</a:t>
            </a:r>
            <a:r>
              <a:rPr kumimoji="1" lang="en-US" altLang="zh-CN" dirty="0"/>
              <a:t>】</a:t>
            </a:r>
            <a:r>
              <a:rPr kumimoji="1" lang="zh-CN" altLang="en-US" dirty="0"/>
              <a:t>点击确定后，则自动生成销售订单。</a:t>
            </a:r>
            <a:endParaRPr kumimoji="1" lang="zh-CN" altLang="en-US" dirty="0"/>
          </a:p>
          <a:p>
            <a:pPr indent="0"/>
            <a:r>
              <a:rPr kumimoji="1" lang="zh-CN" altLang="en-US" dirty="0"/>
              <a:t>备注：批量编辑处，可以编辑实际价格、数量、订单数量（最终转销售订单数量也就是成交数量）、要求装运日期、是否转单、不同意转单原因、客户采购单号维护</a:t>
            </a:r>
            <a:r>
              <a:rPr kumimoji="1" lang="zh-CN" altLang="en-US" dirty="0" smtClean="0"/>
              <a:t>。</a:t>
            </a:r>
            <a:endParaRPr kumimoji="1" lang="en-US" altLang="zh-CN" dirty="0" smtClean="0"/>
          </a:p>
          <a:p>
            <a:pPr indent="0"/>
            <a:r>
              <a:rPr lang="zh-CN" altLang="en-US" dirty="0"/>
              <a:t>特别注意：商机转订单，确定按钮，只能点一次，若是因为网络原因</a:t>
            </a:r>
            <a:r>
              <a:rPr lang="en-US" altLang="zh-CN" dirty="0"/>
              <a:t>/</a:t>
            </a:r>
            <a:r>
              <a:rPr lang="zh-CN" altLang="en-US" dirty="0"/>
              <a:t>系统原因迟迟未能转成功，不要再次点确定，直接关闭界面刷新确认是否转成功，未成功再重新转。</a:t>
            </a:r>
            <a:endParaRPr lang="zh-CN" altLang="en-US" dirty="0"/>
          </a:p>
          <a:p>
            <a:pPr indent="0"/>
            <a:endParaRPr kumimoji="1" lang="zh-CN" altLang="en-US" dirty="0"/>
          </a:p>
          <a:p>
            <a:pPr indent="0"/>
            <a:endParaRPr kumimoji="1" lang="zh-CN" altLang="en-US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" y="1186905"/>
            <a:ext cx="6403753" cy="189513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" y="3368273"/>
            <a:ext cx="6423856" cy="24874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alphaModFix amt="85000"/>
          </a:blip>
          <a:srcRect t="1963" b="23722"/>
          <a:stretch>
            <a:fillRect/>
          </a:stretch>
        </p:blipFill>
        <p:spPr>
          <a:xfrm>
            <a:off x="0" y="1657818"/>
            <a:ext cx="11520488" cy="482235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588" y="1657818"/>
            <a:ext cx="11518900" cy="4822357"/>
          </a:xfrm>
          <a:prstGeom prst="rect">
            <a:avLst/>
          </a:prstGeom>
          <a:solidFill>
            <a:srgbClr val="0B67E4">
              <a:alpha val="6206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        </a:t>
            </a:r>
            <a:endParaRPr kumimoji="1" lang="zh-CN" altLang="en-US" dirty="0"/>
          </a:p>
        </p:txBody>
      </p:sp>
      <p:sp>
        <p:nvSpPr>
          <p:cNvPr id="7" name="文本占位符 12"/>
          <p:cNvSpPr txBox="1"/>
          <p:nvPr/>
        </p:nvSpPr>
        <p:spPr>
          <a:xfrm>
            <a:off x="2367602" y="3328920"/>
            <a:ext cx="5598152" cy="61218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4000" b="0" i="0" kern="120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 smtClean="0"/>
              <a:t>丢单操作</a:t>
            </a:r>
            <a:endParaRPr kumimoji="1" lang="zh-CN" altLang="en-US" dirty="0"/>
          </a:p>
        </p:txBody>
      </p:sp>
      <p:sp>
        <p:nvSpPr>
          <p:cNvPr id="8" name="文本占位符 12"/>
          <p:cNvSpPr txBox="1"/>
          <p:nvPr/>
        </p:nvSpPr>
        <p:spPr>
          <a:xfrm>
            <a:off x="2367602" y="3686176"/>
            <a:ext cx="4556816" cy="48150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864235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sz="2400" b="0" i="0" kern="1200">
                <a:solidFill>
                  <a:schemeClr val="bg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kumimoji="1" lang="zh-CN" altLang="en-US" dirty="0"/>
          </a:p>
        </p:txBody>
      </p:sp>
      <p:sp>
        <p:nvSpPr>
          <p:cNvPr id="9" name="文本占位符 22"/>
          <p:cNvSpPr txBox="1"/>
          <p:nvPr/>
        </p:nvSpPr>
        <p:spPr>
          <a:xfrm>
            <a:off x="736282" y="3041304"/>
            <a:ext cx="1345790" cy="1226388"/>
          </a:xfrm>
          <a:prstGeom prst="rect">
            <a:avLst/>
          </a:prstGeom>
        </p:spPr>
        <p:txBody>
          <a:bodyPr/>
          <a:lstStyle>
            <a:lvl1pPr marL="0" indent="0" algn="ctr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7200" b="0" i="0" kern="1200">
                <a:solidFill>
                  <a:srgbClr val="E0C875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 smtClean="0"/>
              <a:t>4</a:t>
            </a:r>
            <a:endParaRPr kumimoji="1" lang="zh-CN" altLang="en-US" dirty="0"/>
          </a:p>
        </p:txBody>
      </p:sp>
      <p:cxnSp>
        <p:nvCxnSpPr>
          <p:cNvPr id="10" name="直线连接符 9"/>
          <p:cNvCxnSpPr/>
          <p:nvPr/>
        </p:nvCxnSpPr>
        <p:spPr>
          <a:xfrm>
            <a:off x="2224836" y="3189658"/>
            <a:ext cx="0" cy="873024"/>
          </a:xfrm>
          <a:prstGeom prst="line">
            <a:avLst/>
          </a:prstGeom>
          <a:ln w="25400">
            <a:solidFill>
              <a:srgbClr val="E0C8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282" y="432205"/>
            <a:ext cx="2224775" cy="441013"/>
          </a:xfrm>
          <a:prstGeom prst="rect">
            <a:avLst/>
          </a:prstGeom>
        </p:spPr>
      </p:pic>
      <p:sp>
        <p:nvSpPr>
          <p:cNvPr id="12" name="菱形 11"/>
          <p:cNvSpPr/>
          <p:nvPr/>
        </p:nvSpPr>
        <p:spPr>
          <a:xfrm>
            <a:off x="8565702" y="1534884"/>
            <a:ext cx="167038" cy="167038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" y="1213318"/>
            <a:ext cx="11518900" cy="444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 txBox="1"/>
          <p:nvPr/>
        </p:nvSpPr>
        <p:spPr>
          <a:xfrm>
            <a:off x="714604" y="404222"/>
            <a:ext cx="5292658" cy="3744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rgbClr val="002B69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 smtClean="0"/>
              <a:t>04 </a:t>
            </a:r>
            <a:r>
              <a:rPr kumimoji="1" lang="zh-CN" altLang="en-US" dirty="0" smtClean="0"/>
              <a:t>丢单操作</a:t>
            </a:r>
            <a:endParaRPr kumimoji="1" lang="en-US" altLang="zh-CN" dirty="0"/>
          </a:p>
        </p:txBody>
      </p:sp>
      <p:sp>
        <p:nvSpPr>
          <p:cNvPr id="26" name="内容占位符 6"/>
          <p:cNvSpPr txBox="1"/>
          <p:nvPr/>
        </p:nvSpPr>
        <p:spPr>
          <a:xfrm>
            <a:off x="5425724" y="1323672"/>
            <a:ext cx="5019538" cy="4672682"/>
          </a:xfrm>
          <a:prstGeom prst="rect">
            <a:avLst/>
          </a:prstGeom>
        </p:spPr>
        <p:txBody>
          <a:bodyPr/>
          <a:lstStyle>
            <a:lvl1pPr marL="215900" indent="-21590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1400" b="0" i="0" kern="120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/>
            <a:endParaRPr kumimoji="1" lang="en-US" altLang="zh-CN" dirty="0" smtClean="0"/>
          </a:p>
          <a:p>
            <a:pPr indent="0"/>
            <a:r>
              <a:rPr kumimoji="1" lang="zh-CN" altLang="en-US" dirty="0" smtClean="0"/>
              <a:t>第一步：</a:t>
            </a:r>
            <a:endParaRPr kumimoji="1" lang="en-US" altLang="zh-CN" dirty="0" smtClean="0"/>
          </a:p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 smtClean="0"/>
              <a:t>批量编辑</a:t>
            </a:r>
            <a:r>
              <a:rPr kumimoji="1" lang="en-US" altLang="zh-CN" dirty="0" smtClean="0"/>
              <a:t>】</a:t>
            </a:r>
            <a:r>
              <a:rPr kumimoji="1" lang="zh-CN" altLang="en-US" dirty="0" smtClean="0"/>
              <a:t>可全选所有行，也可选择需要操作的行，进行操作；</a:t>
            </a:r>
            <a:endParaRPr kumimoji="1" lang="en-US" altLang="zh-CN" dirty="0" smtClean="0"/>
          </a:p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 smtClean="0"/>
              <a:t>选择字段</a:t>
            </a:r>
            <a:r>
              <a:rPr kumimoji="1" lang="en-US" altLang="zh-CN" dirty="0" smtClean="0"/>
              <a:t>】</a:t>
            </a:r>
            <a:r>
              <a:rPr kumimoji="1" lang="zh-CN" altLang="en-US" dirty="0" smtClean="0"/>
              <a:t>是否转单，选择否，然后点击批量更新，</a:t>
            </a:r>
            <a:endParaRPr kumimoji="1" lang="en-US" altLang="zh-CN" dirty="0" smtClean="0"/>
          </a:p>
          <a:p>
            <a:pPr indent="0"/>
            <a:r>
              <a:rPr kumimoji="1" lang="zh-CN" altLang="en-US" dirty="0"/>
              <a:t>不</a:t>
            </a:r>
            <a:r>
              <a:rPr kumimoji="1" lang="zh-CN" altLang="en-US" dirty="0" smtClean="0"/>
              <a:t>同意转单原因，填写后，点击批量更新</a:t>
            </a:r>
            <a:endParaRPr kumimoji="1" lang="en-US" altLang="zh-CN" dirty="0" smtClean="0"/>
          </a:p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 smtClean="0"/>
              <a:t>保存</a:t>
            </a:r>
            <a:r>
              <a:rPr kumimoji="1" lang="en-US" altLang="zh-CN" dirty="0" smtClean="0"/>
              <a:t>】</a:t>
            </a:r>
            <a:r>
              <a:rPr kumimoji="1" lang="zh-CN" altLang="en-US" dirty="0" smtClean="0"/>
              <a:t>批量更新后，保存</a:t>
            </a:r>
            <a:endParaRPr kumimoji="1" lang="en-US" altLang="zh-CN" dirty="0" smtClean="0"/>
          </a:p>
          <a:p>
            <a:pPr indent="0"/>
            <a:r>
              <a:rPr kumimoji="1" lang="zh-CN" altLang="en-US" dirty="0" smtClean="0"/>
              <a:t>第二步：</a:t>
            </a:r>
            <a:endParaRPr kumimoji="1" lang="en-US" altLang="zh-CN" dirty="0" smtClean="0"/>
          </a:p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 smtClean="0"/>
              <a:t>编辑</a:t>
            </a:r>
            <a:r>
              <a:rPr kumimoji="1" lang="en-US" altLang="zh-CN" dirty="0" smtClean="0"/>
              <a:t>】</a:t>
            </a:r>
            <a:r>
              <a:rPr kumimoji="1" lang="zh-CN" altLang="en-US" dirty="0" smtClean="0"/>
              <a:t>编辑商机</a:t>
            </a:r>
            <a:endParaRPr kumimoji="1" lang="en-US" altLang="zh-CN" dirty="0" smtClean="0"/>
          </a:p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 smtClean="0"/>
              <a:t>丢单类型</a:t>
            </a:r>
            <a:r>
              <a:rPr kumimoji="1" lang="en-US" altLang="zh-CN" dirty="0" smtClean="0"/>
              <a:t>】</a:t>
            </a:r>
            <a:r>
              <a:rPr kumimoji="1" lang="zh-CN" altLang="en-US" dirty="0" smtClean="0"/>
              <a:t>如实选择</a:t>
            </a:r>
            <a:endParaRPr kumimoji="1" lang="en-US" altLang="zh-CN" dirty="0" smtClean="0"/>
          </a:p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 smtClean="0"/>
              <a:t>丢单原因</a:t>
            </a:r>
            <a:r>
              <a:rPr kumimoji="1" lang="en-US" altLang="zh-CN" dirty="0" smtClean="0"/>
              <a:t>】</a:t>
            </a:r>
            <a:r>
              <a:rPr kumimoji="1" lang="zh-CN" altLang="en-US" dirty="0" smtClean="0"/>
              <a:t>如实选择</a:t>
            </a:r>
            <a:endParaRPr kumimoji="1" lang="en-US" altLang="zh-CN" dirty="0" smtClean="0"/>
          </a:p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 smtClean="0"/>
              <a:t>丢单说明</a:t>
            </a:r>
            <a:r>
              <a:rPr kumimoji="1" lang="en-US" altLang="zh-CN" dirty="0" smtClean="0"/>
              <a:t>】</a:t>
            </a:r>
            <a:r>
              <a:rPr kumimoji="1" lang="zh-CN" altLang="en-US" dirty="0" smtClean="0"/>
              <a:t>如实填写</a:t>
            </a:r>
            <a:endParaRPr kumimoji="1" lang="en-US" altLang="zh-CN" dirty="0" smtClean="0"/>
          </a:p>
          <a:p>
            <a:pPr indent="0"/>
            <a:r>
              <a:rPr kumimoji="1" lang="en-US" altLang="zh-CN" dirty="0" smtClean="0"/>
              <a:t>【</a:t>
            </a:r>
            <a:r>
              <a:rPr kumimoji="1" lang="zh-CN" altLang="en-US" dirty="0" smtClean="0"/>
              <a:t>保存</a:t>
            </a:r>
            <a:r>
              <a:rPr kumimoji="1" lang="en-US" altLang="zh-CN" dirty="0" smtClean="0"/>
              <a:t>】</a:t>
            </a:r>
            <a:r>
              <a:rPr kumimoji="1" lang="zh-CN" altLang="en-US" dirty="0" smtClean="0"/>
              <a:t>保存后，若是整单全部丢单，订单会呈现“丢单”状态；若是部分成单，部分关单，则订单呈现 “成单”状态</a:t>
            </a:r>
            <a:endParaRPr kumimoji="1" lang="en-US" altLang="zh-CN" dirty="0" smtClean="0"/>
          </a:p>
          <a:p>
            <a:pPr indent="0"/>
            <a:endParaRPr kumimoji="1" lang="en-US" altLang="zh-CN" dirty="0"/>
          </a:p>
          <a:p>
            <a:pPr indent="0"/>
            <a:endParaRPr kumimoji="1" lang="zh-CN" altLang="en-US" dirty="0"/>
          </a:p>
          <a:p>
            <a:pPr indent="0"/>
            <a:endParaRPr kumimoji="1" lang="zh-CN" altLang="en-US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" y="874368"/>
            <a:ext cx="11518900" cy="190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89" y="413994"/>
            <a:ext cx="1485032" cy="294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" y="1064867"/>
            <a:ext cx="4847313" cy="233775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" y="3402622"/>
            <a:ext cx="4847312" cy="28168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-62000"/>
                    </a14:imgEffect>
                  </a14:imgLayer>
                </a14:imgProps>
              </a:ext>
            </a:extLst>
          </a:blip>
          <a:srcRect t="3778" b="8591"/>
          <a:stretch>
            <a:fillRect/>
          </a:stretch>
        </p:blipFill>
        <p:spPr>
          <a:xfrm>
            <a:off x="794" y="-589280"/>
            <a:ext cx="11518900" cy="671576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0" y="-589280"/>
            <a:ext cx="11520488" cy="6955356"/>
          </a:xfrm>
          <a:prstGeom prst="rect">
            <a:avLst/>
          </a:prstGeom>
          <a:solidFill>
            <a:srgbClr val="0B67E4">
              <a:alpha val="6093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矩形 11"/>
          <p:cNvSpPr/>
          <p:nvPr/>
        </p:nvSpPr>
        <p:spPr>
          <a:xfrm flipV="1">
            <a:off x="397" y="4673599"/>
            <a:ext cx="11519694" cy="1806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" y="4592953"/>
            <a:ext cx="11518900" cy="444500"/>
          </a:xfrm>
          <a:prstGeom prst="rect">
            <a:avLst/>
          </a:prstGeom>
        </p:spPr>
      </p:pic>
      <p:sp>
        <p:nvSpPr>
          <p:cNvPr id="14" name="标题 1"/>
          <p:cNvSpPr txBox="1"/>
          <p:nvPr/>
        </p:nvSpPr>
        <p:spPr>
          <a:xfrm>
            <a:off x="736282" y="1582023"/>
            <a:ext cx="9548326" cy="929984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8642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b="0" i="0" kern="1200">
                <a:solidFill>
                  <a:schemeClr val="bg1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  <a:cs typeface="+mj-cs"/>
              </a:defRPr>
            </a:lvl1pPr>
          </a:lstStyle>
          <a:p>
            <a:r>
              <a:rPr kumimoji="1" lang="en-US" altLang="zh-CN" dirty="0"/>
              <a:t>THANKS</a:t>
            </a:r>
            <a:r>
              <a:rPr kumimoji="1" lang="en-US" altLang="zh-CN" dirty="0" smtClean="0"/>
              <a:t>!</a:t>
            </a:r>
            <a:endParaRPr kumimoji="1" lang="zh-CN" altLang="en-US" dirty="0"/>
          </a:p>
        </p:txBody>
      </p:sp>
      <p:sp>
        <p:nvSpPr>
          <p:cNvPr id="17" name="文本占位符 20"/>
          <p:cNvSpPr txBox="1"/>
          <p:nvPr/>
        </p:nvSpPr>
        <p:spPr>
          <a:xfrm>
            <a:off x="736282" y="2512007"/>
            <a:ext cx="8640366" cy="441012"/>
          </a:xfrm>
          <a:prstGeom prst="rect">
            <a:avLst/>
          </a:prstGeom>
        </p:spPr>
        <p:txBody>
          <a:bodyPr/>
          <a:lstStyle>
            <a:lvl1pPr marL="0" indent="0" algn="l" defTabSz="864235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90204" pitchFamily="34" charset="0"/>
              <a:buNone/>
              <a:defRPr sz="2645" b="0" i="0" kern="1200">
                <a:solidFill>
                  <a:schemeClr val="bg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cs typeface="+mn-cs"/>
              </a:defRPr>
            </a:lvl1pPr>
            <a:lvl2pPr marL="64770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22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1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373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9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感谢您的观看</a:t>
            </a:r>
            <a:r>
              <a:rPr kumimoji="1" lang="zh-CN" altLang="en-US" dirty="0" smtClean="0"/>
              <a:t>！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NDIzMmRiMmU0ZmQ3NGQyZTNmMTYwYjAyM2ExZjkyNjg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5647</Words>
  <Application>WPS 演示</Application>
  <PresentationFormat>自定义</PresentationFormat>
  <Paragraphs>396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61" baseType="lpstr">
      <vt:lpstr>Arial</vt:lpstr>
      <vt:lpstr>宋体</vt:lpstr>
      <vt:lpstr>Wingdings</vt:lpstr>
      <vt:lpstr>Source Han Sans CN Medium</vt:lpstr>
      <vt:lpstr>冬青黑体简体中文</vt:lpstr>
      <vt:lpstr>Source Han Sans CN Normal</vt:lpstr>
      <vt:lpstr>黑体</vt:lpstr>
      <vt:lpstr>汉仪中黑KW</vt:lpstr>
      <vt:lpstr>Calibri</vt:lpstr>
      <vt:lpstr>Helvetica Neue</vt:lpstr>
      <vt:lpstr>微软雅黑</vt:lpstr>
      <vt:lpstr>方正雅意黑 GB18030L2</vt:lpstr>
      <vt:lpstr>宋体</vt:lpstr>
      <vt:lpstr>Arial Unicode MS</vt:lpstr>
      <vt:lpstr>等线 Light</vt:lpstr>
      <vt:lpstr>汉仪中等线KW</vt:lpstr>
      <vt:lpstr>Calibri Light</vt:lpstr>
      <vt:lpstr>等线</vt:lpstr>
      <vt:lpstr>Source Han Sans CN Medium</vt:lpstr>
      <vt:lpstr>Source Han Sans CN Normal</vt:lpstr>
      <vt:lpstr>Wingdings</vt:lpstr>
      <vt:lpstr>汉仪书宋二KW</vt:lpstr>
      <vt:lpstr>苹方-简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2021-2022 保利集团工作总结</dc:title>
  <dc:creator>Microsoft Office User</dc:creator>
  <cp:lastModifiedBy>WPS_1785740995</cp:lastModifiedBy>
  <cp:revision>289</cp:revision>
  <dcterms:created xsi:type="dcterms:W3CDTF">2026-10-12T03:37:26Z</dcterms:created>
  <dcterms:modified xsi:type="dcterms:W3CDTF">2026-10-12T03:37:26Z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597A37EBE90E4DE7A65AF4DF94E5025D_13</vt:lpwstr>
  </property>
  <property fmtid="{D5CDD505-2E9C-101B-9397-08002B2CF9AE}" pid="3" name="KSOProductBuildVer">
    <vt:lpwstr>2052-12.1.28496.28496</vt:lpwstr>
  </property>
</Properties>
</file>