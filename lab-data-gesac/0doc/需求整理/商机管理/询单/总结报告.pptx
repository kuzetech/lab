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4" r:id="rId2"/>
    <p:sldId id="278" r:id="rId3"/>
    <p:sldId id="266" r:id="rId4"/>
    <p:sldId id="402" r:id="rId5"/>
    <p:sldId id="426" r:id="rId6"/>
    <p:sldId id="394" r:id="rId7"/>
    <p:sldId id="390" r:id="rId8"/>
    <p:sldId id="395" r:id="rId9"/>
    <p:sldId id="425" r:id="rId10"/>
    <p:sldId id="282" r:id="rId11"/>
  </p:sldIdLst>
  <p:sldSz cx="11520488" cy="6480175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AFF"/>
    <a:srgbClr val="009DF0"/>
    <a:srgbClr val="00DEFF"/>
    <a:srgbClr val="002B69"/>
    <a:srgbClr val="00B0F0"/>
    <a:srgbClr val="49863E"/>
    <a:srgbClr val="DFE4E8"/>
    <a:srgbClr val="E0CA76"/>
    <a:srgbClr val="FFFFFF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3"/>
    <p:restoredTop sz="96405"/>
  </p:normalViewPr>
  <p:slideViewPr>
    <p:cSldViewPr snapToGrid="0" snapToObjects="1">
      <p:cViewPr>
        <p:scale>
          <a:sx n="75" d="100"/>
          <a:sy n="75" d="100"/>
        </p:scale>
        <p:origin x="23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379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5D717-3DFC-844C-BDD5-11C852C2F675}" type="datetimeFigureOut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8D9A7-6C8E-CF48-B829-48FD492749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A6184-11F5-4CD3-9960-FB5800704A1C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DFB25-7A61-4E86-9E41-46A7CEAC31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5000"/>
                    </a14:imgEffect>
                  </a14:imgLayer>
                </a14:imgProps>
              </a:ext>
            </a:extLst>
          </a:blip>
          <a:srcRect t="12546" b="28136"/>
          <a:stretch>
            <a:fillRect/>
          </a:stretch>
        </p:blipFill>
        <p:spPr>
          <a:xfrm flipH="1">
            <a:off x="0" y="-1"/>
            <a:ext cx="11519694" cy="513198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0"/>
            <a:ext cx="11520488" cy="4853065"/>
          </a:xfrm>
          <a:prstGeom prst="rect">
            <a:avLst/>
          </a:prstGeom>
          <a:solidFill>
            <a:srgbClr val="1075FD">
              <a:alpha val="5832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 flipV="1">
            <a:off x="794" y="4953964"/>
            <a:ext cx="11519694" cy="1526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36282" y="745286"/>
            <a:ext cx="9250275" cy="929984"/>
          </a:xfrm>
        </p:spPr>
        <p:txBody>
          <a:bodyPr anchor="b">
            <a:normAutofit/>
          </a:bodyPr>
          <a:lstStyle>
            <a:lvl1pPr algn="l">
              <a:defRPr sz="4600" b="0" i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标题思源黑体 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46</a:t>
            </a:r>
            <a:endParaRPr kumimoji="1"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736282" y="1675270"/>
            <a:ext cx="8640366" cy="441012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r>
              <a:rPr kumimoji="1" lang="zh-CN" altLang="en-US" dirty="0"/>
              <a:t>副标题思源黑体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26.5</a:t>
            </a:r>
            <a:endParaRPr kumimoji="1" lang="zh-CN" altLang="en-US" dirty="0"/>
          </a:p>
        </p:txBody>
      </p:sp>
      <p:sp>
        <p:nvSpPr>
          <p:cNvPr id="18" name="文本占位符 18"/>
          <p:cNvSpPr>
            <a:spLocks noGrp="1"/>
          </p:cNvSpPr>
          <p:nvPr>
            <p:ph type="body" sz="quarter" idx="17" hasCustomPrompt="1"/>
          </p:nvPr>
        </p:nvSpPr>
        <p:spPr>
          <a:xfrm>
            <a:off x="9085965" y="5781314"/>
            <a:ext cx="1988924" cy="327025"/>
          </a:xfrm>
        </p:spPr>
        <p:txBody>
          <a:bodyPr/>
          <a:lstStyle>
            <a:lvl1pPr algn="r">
              <a:buNone/>
              <a:defRPr sz="110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GB" dirty="0"/>
              <a:t>网址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11</a:t>
            </a:r>
            <a:endParaRPr kumimoji="1" lang="zh-CN" altLang="en-US" dirty="0"/>
          </a:p>
        </p:txBody>
      </p:sp>
      <p:sp>
        <p:nvSpPr>
          <p:cNvPr id="20" name="文本占位符 8"/>
          <p:cNvSpPr>
            <a:spLocks noGrp="1"/>
          </p:cNvSpPr>
          <p:nvPr>
            <p:ph type="body" sz="quarter" idx="16" hasCustomPrompt="1"/>
          </p:nvPr>
        </p:nvSpPr>
        <p:spPr>
          <a:xfrm>
            <a:off x="736282" y="3797386"/>
            <a:ext cx="4467567" cy="353214"/>
          </a:xfrm>
        </p:spPr>
        <p:txBody>
          <a:bodyPr/>
          <a:lstStyle>
            <a:lvl1pPr>
              <a:buNone/>
              <a:defRPr sz="1500"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汇报人</a:t>
            </a:r>
            <a:r>
              <a:rPr kumimoji="1" lang="en-US" altLang="zh-CN" dirty="0"/>
              <a:t> 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15</a:t>
            </a:r>
          </a:p>
        </p:txBody>
      </p:sp>
      <p:sp>
        <p:nvSpPr>
          <p:cNvPr id="21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736282" y="4133051"/>
            <a:ext cx="4467567" cy="353214"/>
          </a:xfrm>
        </p:spPr>
        <p:txBody>
          <a:bodyPr/>
          <a:lstStyle>
            <a:lvl1pPr>
              <a:buNone/>
              <a:defRPr sz="1500"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汇报日期</a:t>
            </a:r>
            <a:r>
              <a:rPr kumimoji="1" lang="en-US" altLang="zh-CN" dirty="0"/>
              <a:t> 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15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4" y="4853065"/>
            <a:ext cx="11518900" cy="444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6282" y="5663358"/>
            <a:ext cx="2224775" cy="44101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</a:p>
        </p:txBody>
      </p:sp>
      <p:sp>
        <p:nvSpPr>
          <p:cNvPr id="21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67602" y="3073203"/>
            <a:ext cx="5598152" cy="612180"/>
          </a:xfrm>
        </p:spPr>
        <p:txBody>
          <a:bodyPr>
            <a:norm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主标题思源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40</a:t>
            </a:r>
            <a:endParaRPr kumimoji="1" lang="zh-CN" altLang="en-US" dirty="0"/>
          </a:p>
        </p:txBody>
      </p:sp>
      <p:sp>
        <p:nvSpPr>
          <p:cNvPr id="22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67602" y="3686176"/>
            <a:ext cx="4556816" cy="481503"/>
          </a:xfr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marL="0" marR="0" lvl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副标题思源黑体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</a:t>
            </a:r>
            <a:r>
              <a:rPr kumimoji="1" lang="en-US" altLang="zh-CN" dirty="0"/>
              <a:t>24</a:t>
            </a:r>
            <a:endParaRPr kumimoji="1"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736282" y="3041304"/>
            <a:ext cx="1345790" cy="1226388"/>
          </a:xfrm>
        </p:spPr>
        <p:txBody>
          <a:bodyPr/>
          <a:lstStyle>
            <a:lvl1pPr marL="0" indent="0" algn="ctr">
              <a:buNone/>
              <a:defRPr sz="7200" b="0" i="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cxnSp>
        <p:nvCxnSpPr>
          <p:cNvPr id="32" name="直线连接符 31"/>
          <p:cNvCxnSpPr/>
          <p:nvPr userDrawn="1"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3" name="菱形 2"/>
          <p:cNvSpPr/>
          <p:nvPr userDrawn="1"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7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628606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18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628606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9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628606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5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255735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16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4255735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0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4255736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22" hasCustomPrompt="1"/>
          </p:nvPr>
        </p:nvSpPr>
        <p:spPr>
          <a:xfrm>
            <a:off x="7795887" y="1201057"/>
            <a:ext cx="3419801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2" name="内容占位符 6"/>
          <p:cNvSpPr>
            <a:spLocks noGrp="1"/>
          </p:cNvSpPr>
          <p:nvPr>
            <p:ph sz="quarter" idx="23" hasCustomPrompt="1"/>
          </p:nvPr>
        </p:nvSpPr>
        <p:spPr>
          <a:xfrm>
            <a:off x="7795887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3" name="图片占位符 10"/>
          <p:cNvSpPr>
            <a:spLocks noGrp="1"/>
          </p:cNvSpPr>
          <p:nvPr>
            <p:ph type="pic" sz="quarter" idx="24"/>
          </p:nvPr>
        </p:nvSpPr>
        <p:spPr>
          <a:xfrm>
            <a:off x="7795888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7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628606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18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628606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9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628606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88369" y="413994"/>
            <a:ext cx="724252" cy="2987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4" y="6213475"/>
            <a:ext cx="11518900" cy="266700"/>
          </a:xfrm>
          <a:prstGeom prst="rect">
            <a:avLst/>
          </a:prstGeom>
        </p:spPr>
      </p:pic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6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4255735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0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4255736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22" name="内容占位符 6"/>
          <p:cNvSpPr>
            <a:spLocks noGrp="1"/>
          </p:cNvSpPr>
          <p:nvPr>
            <p:ph sz="quarter" idx="23" hasCustomPrompt="1"/>
          </p:nvPr>
        </p:nvSpPr>
        <p:spPr>
          <a:xfrm>
            <a:off x="7795887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3" name="图片占位符 10"/>
          <p:cNvSpPr>
            <a:spLocks noGrp="1"/>
          </p:cNvSpPr>
          <p:nvPr>
            <p:ph type="pic" sz="quarter" idx="24"/>
          </p:nvPr>
        </p:nvSpPr>
        <p:spPr>
          <a:xfrm>
            <a:off x="7795888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88369" y="413994"/>
            <a:ext cx="724252" cy="2987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4" y="6213475"/>
            <a:ext cx="11518900" cy="266700"/>
          </a:xfrm>
          <a:prstGeom prst="rect">
            <a:avLst/>
          </a:prstGeom>
        </p:spPr>
      </p:pic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255735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22" hasCustomPrompt="1"/>
          </p:nvPr>
        </p:nvSpPr>
        <p:spPr>
          <a:xfrm>
            <a:off x="7795887" y="1201057"/>
            <a:ext cx="3419801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7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2000"/>
                    </a14:imgEffect>
                  </a14:imgLayer>
                </a14:imgProps>
              </a:ext>
            </a:extLst>
          </a:blip>
          <a:srcRect t="3778" b="8591"/>
          <a:stretch>
            <a:fillRect/>
          </a:stretch>
        </p:blipFill>
        <p:spPr>
          <a:xfrm>
            <a:off x="0" y="-589280"/>
            <a:ext cx="11518900" cy="671576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-589280"/>
            <a:ext cx="11520488" cy="6955356"/>
          </a:xfrm>
          <a:prstGeom prst="rect">
            <a:avLst/>
          </a:prstGeom>
          <a:solidFill>
            <a:srgbClr val="0B67E4">
              <a:alpha val="6093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flipV="1">
            <a:off x="794" y="4673599"/>
            <a:ext cx="11519694" cy="180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4" y="4592953"/>
            <a:ext cx="11518900" cy="4445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ctrTitle" hasCustomPrompt="1"/>
          </p:nvPr>
        </p:nvSpPr>
        <p:spPr>
          <a:xfrm>
            <a:off x="736282" y="1582023"/>
            <a:ext cx="9548326" cy="929984"/>
          </a:xfrm>
        </p:spPr>
        <p:txBody>
          <a:bodyPr anchor="b">
            <a:normAutofit/>
          </a:bodyPr>
          <a:lstStyle>
            <a:lvl1pPr algn="l">
              <a:defRPr sz="4600" b="0" i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en-US" altLang="zh-CN" dirty="0"/>
              <a:t>THANKS!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Medium </a:t>
            </a:r>
            <a:r>
              <a:rPr kumimoji="1" lang="zh-CN" altLang="en-US" dirty="0"/>
              <a:t>字号</a:t>
            </a:r>
            <a:r>
              <a:rPr kumimoji="1" lang="en-US" altLang="zh-CN" dirty="0"/>
              <a:t>46</a:t>
            </a:r>
            <a:endParaRPr kumimoji="1"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736282" y="2512007"/>
            <a:ext cx="8640366" cy="441012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r>
              <a:rPr kumimoji="1" lang="zh-CN" altLang="en-US" dirty="0"/>
              <a:t>感谢您的观看！思源黑体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26.5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43998" y="5806441"/>
            <a:ext cx="2855595" cy="559635"/>
          </a:xfrm>
        </p:spPr>
        <p:txBody>
          <a:bodyPr/>
          <a:lstStyle>
            <a:lvl1pPr>
              <a:buNone/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电话：</a:t>
            </a:r>
            <a:r>
              <a:rPr kumimoji="1" lang="en-US" altLang="zh-CN"/>
              <a:t>+86 592 3351797        </a:t>
            </a:r>
            <a:r>
              <a:rPr kumimoji="1" lang="zh-CN" altLang="en-US"/>
              <a:t>邮箱：</a:t>
            </a:r>
            <a:r>
              <a:rPr kumimoji="1" lang="en-GB" altLang="zh-CN"/>
              <a:t>www.@cxtc.com</a:t>
            </a:r>
          </a:p>
          <a:p>
            <a:pPr lvl="0"/>
            <a:r>
              <a:rPr kumimoji="1" lang="zh-CN" altLang="en-US"/>
              <a:t>福建省厦门市展鸿路</a:t>
            </a:r>
            <a:r>
              <a:rPr kumimoji="1" lang="en-US" altLang="zh-CN"/>
              <a:t>81</a:t>
            </a:r>
            <a:r>
              <a:rPr kumimoji="1" lang="zh-CN" altLang="en-US"/>
              <a:t>号特房波特曼财富中心</a:t>
            </a:r>
            <a:r>
              <a:rPr kumimoji="1" lang="en-GB" altLang="zh-CN"/>
              <a:t>A</a:t>
            </a:r>
            <a:r>
              <a:rPr kumimoji="1" lang="zh-CN" altLang="en-US"/>
              <a:t>座</a:t>
            </a:r>
            <a:r>
              <a:rPr kumimoji="1" lang="en-US" altLang="zh-CN"/>
              <a:t>21</a:t>
            </a:r>
            <a:r>
              <a:rPr kumimoji="1" lang="zh-CN" altLang="en-US"/>
              <a:t>层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743998" y="5491292"/>
            <a:ext cx="1727835" cy="233362"/>
          </a:xfrm>
        </p:spPr>
        <p:txBody>
          <a:bodyPr/>
          <a:lstStyle>
            <a:lvl1pPr>
              <a:buNone/>
              <a:defRPr sz="85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en-GB" altLang="zh-CN"/>
              <a:t>XIAMEN TUNGSTEN  CO., LTD.</a:t>
            </a:r>
            <a:endParaRPr kumimoji="1" lang="zh-CN" altLang="en-US"/>
          </a:p>
        </p:txBody>
      </p:sp>
      <p:sp>
        <p:nvSpPr>
          <p:cNvPr id="15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743998" y="5244428"/>
            <a:ext cx="1727835" cy="246863"/>
          </a:xfrm>
        </p:spPr>
        <p:txBody>
          <a:bodyPr/>
          <a:lstStyle>
            <a:lvl1pPr>
              <a:buNone/>
              <a:defRPr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GB"/>
              <a:t>厦门钨业</a:t>
            </a:r>
            <a:r>
              <a:rPr kumimoji="1" lang="zh-CN" altLang="en-US"/>
              <a:t>股份有限公司</a:t>
            </a: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92726" y="5244429"/>
            <a:ext cx="983764" cy="9837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6024" y="6006163"/>
            <a:ext cx="2688114" cy="3450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936167" y="6006163"/>
            <a:ext cx="3648155" cy="3450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56350" y="6006163"/>
            <a:ext cx="2688114" cy="3450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fld id="{087A0A69-443B-43C6-8C78-37161ABC79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D9DDB-55F7-D746-A2DF-EE6F0BBD7B48}" type="datetimeFigureOut">
              <a:rPr kumimoji="1" lang="zh-CN" altLang="en-US" smtClean="0"/>
              <a:t>2026/10/13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DB769-B7C8-1742-B945-413FECE988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864235" rtl="0" eaLnBrk="1" latinLnBrk="0" hangingPunct="1">
        <a:lnSpc>
          <a:spcPct val="90000"/>
        </a:lnSpc>
        <a:spcBef>
          <a:spcPct val="0"/>
        </a:spcBef>
        <a:buNone/>
        <a:defRPr sz="4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90000"/>
        </a:lnSpc>
        <a:spcBef>
          <a:spcPts val="945"/>
        </a:spcBef>
        <a:buFont typeface="Arial" panose="020B060402020209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437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5000"/>
                    </a14:imgEffect>
                  </a14:imgLayer>
                </a14:imgProps>
              </a:ext>
            </a:extLst>
          </a:blip>
          <a:srcRect t="12546" b="28136"/>
          <a:stretch>
            <a:fillRect/>
          </a:stretch>
        </p:blipFill>
        <p:spPr>
          <a:xfrm flipH="1">
            <a:off x="0" y="-1"/>
            <a:ext cx="11519694" cy="513198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-794" y="0"/>
            <a:ext cx="11520488" cy="4853065"/>
          </a:xfrm>
          <a:prstGeom prst="rect">
            <a:avLst/>
          </a:prstGeom>
          <a:solidFill>
            <a:srgbClr val="1075FD">
              <a:alpha val="5832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/>
          <p:cNvSpPr/>
          <p:nvPr/>
        </p:nvSpPr>
        <p:spPr>
          <a:xfrm flipV="1">
            <a:off x="794" y="4953964"/>
            <a:ext cx="11519694" cy="1526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36282" y="745286"/>
            <a:ext cx="9250275" cy="9299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zh-CN" altLang="en-US" dirty="0"/>
              <a:t>商机</a:t>
            </a:r>
            <a:r>
              <a:rPr kumimoji="1" lang="en-US" altLang="zh-CN" dirty="0"/>
              <a:t>-</a:t>
            </a:r>
            <a:r>
              <a:rPr kumimoji="1" lang="zh-CN" altLang="en-US" dirty="0"/>
              <a:t>询单需求整理</a:t>
            </a:r>
          </a:p>
        </p:txBody>
      </p:sp>
      <p:sp>
        <p:nvSpPr>
          <p:cNvPr id="15" name="文本占位符 20"/>
          <p:cNvSpPr txBox="1"/>
          <p:nvPr/>
        </p:nvSpPr>
        <p:spPr>
          <a:xfrm>
            <a:off x="736282" y="1675270"/>
            <a:ext cx="8640366" cy="441012"/>
          </a:xfrm>
          <a:prstGeom prst="rect">
            <a:avLst/>
          </a:prstGeom>
        </p:spPr>
        <p:txBody>
          <a:bodyPr/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645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sp>
        <p:nvSpPr>
          <p:cNvPr id="18" name="文本占位符 8"/>
          <p:cNvSpPr txBox="1"/>
          <p:nvPr/>
        </p:nvSpPr>
        <p:spPr>
          <a:xfrm>
            <a:off x="736282" y="3797386"/>
            <a:ext cx="4467567" cy="35321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5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汇报人</a:t>
            </a:r>
            <a:r>
              <a:rPr kumimoji="1" lang="en-US" altLang="zh-CN" dirty="0"/>
              <a:t> </a:t>
            </a:r>
            <a:r>
              <a:rPr kumimoji="1" lang="zh-CN" altLang="en-US" dirty="0"/>
              <a:t>：</a:t>
            </a:r>
            <a:endParaRPr kumimoji="1" lang="en-US" altLang="zh-CN" dirty="0"/>
          </a:p>
        </p:txBody>
      </p:sp>
      <p:sp>
        <p:nvSpPr>
          <p:cNvPr id="19" name="文本占位符 8"/>
          <p:cNvSpPr txBox="1"/>
          <p:nvPr/>
        </p:nvSpPr>
        <p:spPr>
          <a:xfrm>
            <a:off x="736282" y="4133051"/>
            <a:ext cx="4467567" cy="35321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5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汇报日期</a:t>
            </a:r>
            <a:r>
              <a:rPr kumimoji="1" lang="en-US" altLang="zh-CN" dirty="0"/>
              <a:t> </a:t>
            </a:r>
            <a:r>
              <a:rPr kumimoji="1" lang="zh-CN" altLang="en-US" dirty="0"/>
              <a:t>：</a:t>
            </a:r>
            <a:endParaRPr kumimoji="1" lang="en-US" altLang="zh-CN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" y="4853065"/>
            <a:ext cx="11518900" cy="4445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82" y="5663358"/>
            <a:ext cx="2224775" cy="4410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l="9473" t="7722" r="50790" b="7778"/>
          <a:stretch>
            <a:fillRect/>
          </a:stretch>
        </p:blipFill>
        <p:spPr>
          <a:xfrm>
            <a:off x="0" y="0"/>
            <a:ext cx="4580525" cy="6480176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-1" y="0"/>
            <a:ext cx="4580525" cy="6480175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占位符 9"/>
          <p:cNvSpPr txBox="1"/>
          <p:nvPr/>
        </p:nvSpPr>
        <p:spPr>
          <a:xfrm>
            <a:off x="625351" y="758405"/>
            <a:ext cx="1385400" cy="635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36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目录</a:t>
            </a:r>
          </a:p>
        </p:txBody>
      </p:sp>
      <p:sp>
        <p:nvSpPr>
          <p:cNvPr id="23" name="文本占位符 9"/>
          <p:cNvSpPr txBox="1"/>
          <p:nvPr/>
        </p:nvSpPr>
        <p:spPr>
          <a:xfrm>
            <a:off x="1725459" y="917233"/>
            <a:ext cx="1888233" cy="317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E0C875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CONTENTS</a:t>
            </a:r>
            <a:r>
              <a:rPr kumimoji="1" lang="zh-CN" altLang="en-US" dirty="0"/>
              <a:t> </a:t>
            </a:r>
          </a:p>
        </p:txBody>
      </p:sp>
      <p:sp>
        <p:nvSpPr>
          <p:cNvPr id="24" name="文本占位符 12"/>
          <p:cNvSpPr txBox="1"/>
          <p:nvPr/>
        </p:nvSpPr>
        <p:spPr>
          <a:xfrm>
            <a:off x="6642791" y="1333201"/>
            <a:ext cx="4003008" cy="486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业务流程</a:t>
            </a:r>
          </a:p>
        </p:txBody>
      </p:sp>
      <p:sp>
        <p:nvSpPr>
          <p:cNvPr id="25" name="文本占位符 12"/>
          <p:cNvSpPr txBox="1"/>
          <p:nvPr/>
        </p:nvSpPr>
        <p:spPr>
          <a:xfrm>
            <a:off x="6642791" y="1597230"/>
            <a:ext cx="3092425" cy="5320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26" name="文本占位符 22"/>
          <p:cNvSpPr txBox="1"/>
          <p:nvPr/>
        </p:nvSpPr>
        <p:spPr>
          <a:xfrm>
            <a:off x="5491108" y="1180745"/>
            <a:ext cx="987173" cy="90186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cxnSp>
        <p:nvCxnSpPr>
          <p:cNvPr id="27" name="直线连接符 26"/>
          <p:cNvCxnSpPr/>
          <p:nvPr/>
        </p:nvCxnSpPr>
        <p:spPr>
          <a:xfrm>
            <a:off x="6500025" y="1315652"/>
            <a:ext cx="0" cy="503999"/>
          </a:xfrm>
          <a:prstGeom prst="line">
            <a:avLst/>
          </a:prstGeom>
          <a:ln w="25400">
            <a:solidFill>
              <a:srgbClr val="002B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占位符 12"/>
          <p:cNvSpPr txBox="1"/>
          <p:nvPr/>
        </p:nvSpPr>
        <p:spPr>
          <a:xfrm>
            <a:off x="6642791" y="2529478"/>
            <a:ext cx="4003008" cy="486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数据建模</a:t>
            </a:r>
          </a:p>
        </p:txBody>
      </p:sp>
      <p:sp>
        <p:nvSpPr>
          <p:cNvPr id="29" name="文本占位符 12"/>
          <p:cNvSpPr txBox="1"/>
          <p:nvPr/>
        </p:nvSpPr>
        <p:spPr>
          <a:xfrm>
            <a:off x="6642791" y="2782969"/>
            <a:ext cx="3092425" cy="5320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30" name="文本占位符 22"/>
          <p:cNvSpPr txBox="1"/>
          <p:nvPr/>
        </p:nvSpPr>
        <p:spPr>
          <a:xfrm>
            <a:off x="5491108" y="2366484"/>
            <a:ext cx="987173" cy="90186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6500025" y="2501391"/>
            <a:ext cx="0" cy="503999"/>
          </a:xfrm>
          <a:prstGeom prst="line">
            <a:avLst/>
          </a:prstGeom>
          <a:ln w="25400">
            <a:solidFill>
              <a:srgbClr val="002B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2"/>
          <p:cNvSpPr txBox="1"/>
          <p:nvPr/>
        </p:nvSpPr>
        <p:spPr>
          <a:xfrm>
            <a:off x="6642791" y="3718919"/>
            <a:ext cx="4003008" cy="486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报表样例</a:t>
            </a:r>
          </a:p>
        </p:txBody>
      </p:sp>
      <p:sp>
        <p:nvSpPr>
          <p:cNvPr id="15" name="文本占位符 22"/>
          <p:cNvSpPr txBox="1"/>
          <p:nvPr/>
        </p:nvSpPr>
        <p:spPr>
          <a:xfrm>
            <a:off x="5491108" y="3566463"/>
            <a:ext cx="987173" cy="90186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cxnSp>
        <p:nvCxnSpPr>
          <p:cNvPr id="16" name="直线连接符 30"/>
          <p:cNvCxnSpPr/>
          <p:nvPr/>
        </p:nvCxnSpPr>
        <p:spPr>
          <a:xfrm>
            <a:off x="6500025" y="3701370"/>
            <a:ext cx="0" cy="503999"/>
          </a:xfrm>
          <a:prstGeom prst="line">
            <a:avLst/>
          </a:prstGeom>
          <a:ln w="25400">
            <a:solidFill>
              <a:srgbClr val="002B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</a:p>
        </p:txBody>
      </p:sp>
      <p:sp>
        <p:nvSpPr>
          <p:cNvPr id="7" name="文本占位符 12"/>
          <p:cNvSpPr txBox="1"/>
          <p:nvPr/>
        </p:nvSpPr>
        <p:spPr>
          <a:xfrm>
            <a:off x="2367602" y="3328920"/>
            <a:ext cx="5598152" cy="6121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0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业务流程</a:t>
            </a:r>
          </a:p>
        </p:txBody>
      </p:sp>
      <p:sp>
        <p:nvSpPr>
          <p:cNvPr id="8" name="文本占位符 12"/>
          <p:cNvSpPr txBox="1"/>
          <p:nvPr/>
        </p:nvSpPr>
        <p:spPr>
          <a:xfrm>
            <a:off x="2367602" y="3686176"/>
            <a:ext cx="4556816" cy="48150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9" name="文本占位符 22"/>
          <p:cNvSpPr txBox="1"/>
          <p:nvPr/>
        </p:nvSpPr>
        <p:spPr>
          <a:xfrm>
            <a:off x="736282" y="3041304"/>
            <a:ext cx="1345790" cy="122638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72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12" name="菱形 11"/>
          <p:cNvSpPr/>
          <p:nvPr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01 </a:t>
            </a:r>
            <a:r>
              <a:rPr kumimoji="1" lang="zh-CN" altLang="en-US" dirty="0"/>
              <a:t>业务流程</a:t>
            </a:r>
            <a:endParaRPr kumimoji="1" lang="en-US" altLang="zh-CN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9B061F9-2C4D-B1C2-77BF-51547856C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92" y="2693306"/>
            <a:ext cx="10266175" cy="2402913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2A0D20-A65B-5842-533E-4891448D305B}"/>
              </a:ext>
            </a:extLst>
          </p:cNvPr>
          <p:cNvSpPr txBox="1"/>
          <p:nvPr/>
        </p:nvSpPr>
        <p:spPr>
          <a:xfrm>
            <a:off x="307486" y="1383956"/>
            <a:ext cx="10125564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询单业务通常会经历以下主要流程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96A4D-45F1-5870-9E8C-763B108B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>
            <a:extLst>
              <a:ext uri="{FF2B5EF4-FFF2-40B4-BE49-F238E27FC236}">
                <a16:creationId xmlns:a16="http://schemas.microsoft.com/office/drawing/2014/main" id="{3668079E-0AB0-7177-4115-AF37096590F3}"/>
              </a:ext>
            </a:extLst>
          </p:cNvPr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01 </a:t>
            </a:r>
            <a:r>
              <a:rPr kumimoji="1" lang="zh-CN" altLang="en-US" dirty="0"/>
              <a:t>业务流程</a:t>
            </a:r>
            <a:endParaRPr kumimoji="1" lang="en-US" altLang="zh-CN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111FE27-D7DC-9B89-F186-78DD4828C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B90CD43-749E-0AAE-FA4D-4D321A5B0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7383AB-9F16-4057-6E5C-11D79DCFE612}"/>
              </a:ext>
            </a:extLst>
          </p:cNvPr>
          <p:cNvSpPr txBox="1"/>
          <p:nvPr/>
        </p:nvSpPr>
        <p:spPr>
          <a:xfrm>
            <a:off x="307486" y="1383956"/>
            <a:ext cx="10125564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询单业务详细流程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BCD6F0-9B2E-3279-2178-D0EA513DB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134" y="1294367"/>
            <a:ext cx="218821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6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</a:p>
        </p:txBody>
      </p:sp>
      <p:sp>
        <p:nvSpPr>
          <p:cNvPr id="7" name="文本占位符 12"/>
          <p:cNvSpPr txBox="1"/>
          <p:nvPr/>
        </p:nvSpPr>
        <p:spPr>
          <a:xfrm>
            <a:off x="2367602" y="3328920"/>
            <a:ext cx="5598152" cy="6121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0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数据建模</a:t>
            </a:r>
          </a:p>
        </p:txBody>
      </p:sp>
      <p:sp>
        <p:nvSpPr>
          <p:cNvPr id="8" name="文本占位符 12"/>
          <p:cNvSpPr txBox="1"/>
          <p:nvPr/>
        </p:nvSpPr>
        <p:spPr>
          <a:xfrm>
            <a:off x="2367602" y="3686176"/>
            <a:ext cx="4556816" cy="48150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9" name="文本占位符 22"/>
          <p:cNvSpPr txBox="1"/>
          <p:nvPr/>
        </p:nvSpPr>
        <p:spPr>
          <a:xfrm>
            <a:off x="736282" y="3041304"/>
            <a:ext cx="1345790" cy="122638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72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12" name="菱形 11"/>
          <p:cNvSpPr/>
          <p:nvPr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02 </a:t>
            </a:r>
            <a:r>
              <a:rPr kumimoji="1" lang="zh-CN" altLang="en-US" dirty="0"/>
              <a:t>数据建模</a:t>
            </a:r>
            <a:endParaRPr kumimoji="1" lang="en-US" altLang="zh-CN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sp>
        <p:nvSpPr>
          <p:cNvPr id="2" name="文本占位符 3">
            <a:extLst>
              <a:ext uri="{FF2B5EF4-FFF2-40B4-BE49-F238E27FC236}">
                <a16:creationId xmlns:a16="http://schemas.microsoft.com/office/drawing/2014/main" id="{0EF72817-340B-1E1A-A031-31B7D6907766}"/>
              </a:ext>
            </a:extLst>
          </p:cNvPr>
          <p:cNvSpPr txBox="1"/>
          <p:nvPr/>
        </p:nvSpPr>
        <p:spPr>
          <a:xfrm>
            <a:off x="307486" y="1383956"/>
            <a:ext cx="10125564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询单报价业务通常会经历以下主要流程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</a:p>
        </p:txBody>
      </p:sp>
      <p:sp>
        <p:nvSpPr>
          <p:cNvPr id="7" name="文本占位符 12"/>
          <p:cNvSpPr txBox="1"/>
          <p:nvPr/>
        </p:nvSpPr>
        <p:spPr>
          <a:xfrm>
            <a:off x="2367602" y="3328920"/>
            <a:ext cx="5598152" cy="6121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0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报表样例</a:t>
            </a:r>
          </a:p>
        </p:txBody>
      </p:sp>
      <p:sp>
        <p:nvSpPr>
          <p:cNvPr id="8" name="文本占位符 12"/>
          <p:cNvSpPr txBox="1"/>
          <p:nvPr/>
        </p:nvSpPr>
        <p:spPr>
          <a:xfrm>
            <a:off x="2367602" y="3686176"/>
            <a:ext cx="4556816" cy="48150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9" name="文本占位符 22"/>
          <p:cNvSpPr txBox="1"/>
          <p:nvPr/>
        </p:nvSpPr>
        <p:spPr>
          <a:xfrm>
            <a:off x="736282" y="3041304"/>
            <a:ext cx="1345790" cy="122638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72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12" name="菱形 11"/>
          <p:cNvSpPr/>
          <p:nvPr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03</a:t>
            </a:r>
            <a:r>
              <a:rPr kumimoji="1" lang="zh-CN" altLang="en-US" dirty="0"/>
              <a:t>报表样例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307486" y="1383956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第二步：新建商机</a:t>
            </a:r>
          </a:p>
        </p:txBody>
      </p:sp>
      <p:sp>
        <p:nvSpPr>
          <p:cNvPr id="26" name="内容占位符 6"/>
          <p:cNvSpPr txBox="1"/>
          <p:nvPr/>
        </p:nvSpPr>
        <p:spPr>
          <a:xfrm>
            <a:off x="1" y="2022132"/>
            <a:ext cx="5867400" cy="428976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技术评审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合计询单报价类型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非标棒材报价模板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报价有效期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默认一个月，如需延长或缩短，自行更改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填写客户需求的真实交货日期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订单池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默认正常订单</a:t>
            </a:r>
            <a:r>
              <a:rPr kumimoji="1" lang="en-US" altLang="zh-CN" dirty="0"/>
              <a:t>-</a:t>
            </a:r>
            <a:r>
              <a:rPr kumimoji="1" lang="zh-CN" altLang="en-US" dirty="0"/>
              <a:t>直接交货，如有其他，自行更改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改型新产品、全新新产品、</a:t>
            </a:r>
            <a:r>
              <a:rPr kumimoji="1" lang="zh-CN" altLang="en-US" dirty="0">
                <a:solidFill>
                  <a:srgbClr val="FF0000"/>
                </a:solidFill>
              </a:rPr>
              <a:t>非标新产品（非标专选）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产品线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通用行业、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行业、木工行业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规格数量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根据实际情况填写</a:t>
            </a: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客户收货地址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空值，保存后是客户主档的默认收货地址，如果有需要选择其他收货地址，点击放大机处，进行选择</a:t>
            </a:r>
            <a:endParaRPr kumimoji="1" lang="en-US" altLang="zh-CN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】</a:t>
            </a:r>
          </a:p>
          <a:p>
            <a:pPr indent="0"/>
            <a:endParaRPr kumimoji="1"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2000"/>
                    </a14:imgEffect>
                  </a14:imgLayer>
                </a14:imgProps>
              </a:ext>
            </a:extLst>
          </a:blip>
          <a:srcRect t="3778" b="8591"/>
          <a:stretch>
            <a:fillRect/>
          </a:stretch>
        </p:blipFill>
        <p:spPr>
          <a:xfrm>
            <a:off x="794" y="-589280"/>
            <a:ext cx="11518900" cy="671576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-589280"/>
            <a:ext cx="11520488" cy="6955356"/>
          </a:xfrm>
          <a:prstGeom prst="rect">
            <a:avLst/>
          </a:prstGeom>
          <a:solidFill>
            <a:srgbClr val="0B67E4">
              <a:alpha val="6093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 flipV="1">
            <a:off x="397" y="4673599"/>
            <a:ext cx="11519694" cy="180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" y="4592953"/>
            <a:ext cx="11518900" cy="444500"/>
          </a:xfrm>
          <a:prstGeom prst="rect">
            <a:avLst/>
          </a:prstGeom>
        </p:spPr>
      </p:pic>
      <p:sp>
        <p:nvSpPr>
          <p:cNvPr id="14" name="标题 1"/>
          <p:cNvSpPr txBox="1"/>
          <p:nvPr/>
        </p:nvSpPr>
        <p:spPr>
          <a:xfrm>
            <a:off x="736282" y="1582023"/>
            <a:ext cx="9548326" cy="9299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THANKS!</a:t>
            </a:r>
            <a:endParaRPr kumimoji="1" lang="zh-CN" altLang="en-US" dirty="0"/>
          </a:p>
        </p:txBody>
      </p:sp>
      <p:sp>
        <p:nvSpPr>
          <p:cNvPr id="17" name="文本占位符 20"/>
          <p:cNvSpPr txBox="1"/>
          <p:nvPr/>
        </p:nvSpPr>
        <p:spPr>
          <a:xfrm>
            <a:off x="736282" y="2512007"/>
            <a:ext cx="8640366" cy="441012"/>
          </a:xfrm>
          <a:prstGeom prst="rect">
            <a:avLst/>
          </a:prstGeom>
        </p:spPr>
        <p:txBody>
          <a:bodyPr/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645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感谢您的观看！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IzMmRiMmU0ZmQ3NGQyZTNmMTYwYjAyM2ExZjkyNjg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1090</TotalTime>
  <Words>220</Words>
  <Application>Microsoft Office PowerPoint</Application>
  <PresentationFormat>自定义</PresentationFormat>
  <Paragraphs>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Source Han Sans CN Medium</vt:lpstr>
      <vt:lpstr>Source Han Sans CN Normal</vt:lpstr>
      <vt:lpstr>等线</vt:lpstr>
      <vt:lpstr>黑体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2021-2022 保利集团工作总结</dc:title>
  <dc:creator>Microsoft Office User</dc:creator>
  <cp:lastModifiedBy>黄少威</cp:lastModifiedBy>
  <cp:revision>298</cp:revision>
  <dcterms:created xsi:type="dcterms:W3CDTF">2026-10-12T03:37:26Z</dcterms:created>
  <dcterms:modified xsi:type="dcterms:W3CDTF">2026-10-14T00:29:30Z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597A37EBE90E4DE7A65AF4DF94E5025D_13</vt:lpwstr>
  </property>
  <property fmtid="{D5CDD505-2E9C-101B-9397-08002B2CF9AE}" pid="3" name="KSOProductBuildVer">
    <vt:lpwstr>2052-12.1.28496.28496</vt:lpwstr>
  </property>
</Properties>
</file>